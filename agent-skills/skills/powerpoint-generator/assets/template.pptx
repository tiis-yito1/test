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58" r:id="rId7"/>
    <p:sldId id="259" r:id="rId8"/>
    <p:sldId id="261" r:id="rId9"/>
    <p:sldId id="262" r:id="rId10"/>
    <p:sldId id="263" r:id="rId11"/>
    <p:sldId id="264" r:id="rId12"/>
    <p:sldId id="265" r:id="rId13"/>
  </p:sldIdLst>
  <p:sldSz cx="12192000" cy="6858000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45" autoAdjust="0"/>
  </p:normalViewPr>
  <p:slideViewPr>
    <p:cSldViewPr snapToGrid="0" snapToObjects="1">
      <p:cViewPr varScale="1">
        <p:scale>
          <a:sx n="63" d="100"/>
          <a:sy n="63" d="100"/>
        </p:scale>
        <p:origin x="804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0" d="100"/>
          <a:sy n="80" d="100"/>
        </p:scale>
        <p:origin x="317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364C24-8ECE-403E-9C44-0507B87655F9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0C431F52-A624-45E4-B4C7-02B8F1EC3377}">
      <dgm:prSet phldrT="[テキスト]" custT="1"/>
      <dgm:spPr>
        <a:solidFill>
          <a:srgbClr val="7030A0"/>
        </a:solidFill>
      </dgm:spPr>
      <dgm:t>
        <a:bodyPr/>
        <a:lstStyle/>
        <a:p>
          <a:r>
            <a:rPr kumimoji="1" lang="ja-JP" altLang="en-US" sz="2000" dirty="0"/>
            <a:t>アプリ基盤</a:t>
          </a:r>
        </a:p>
      </dgm:t>
    </dgm:pt>
    <dgm:pt modelId="{070FF170-6F90-49C2-B6BB-B8C132F232FE}" type="parTrans" cxnId="{36B38806-D4C8-4B5A-ACBB-78F2B156CEE7}">
      <dgm:prSet/>
      <dgm:spPr/>
      <dgm:t>
        <a:bodyPr/>
        <a:lstStyle/>
        <a:p>
          <a:endParaRPr kumimoji="1" lang="ja-JP" altLang="en-US"/>
        </a:p>
      </dgm:t>
    </dgm:pt>
    <dgm:pt modelId="{C59BD4F6-470B-4DA9-9C73-035C22296260}" type="sibTrans" cxnId="{36B38806-D4C8-4B5A-ACBB-78F2B156CEE7}">
      <dgm:prSet/>
      <dgm:spPr/>
      <dgm:t>
        <a:bodyPr/>
        <a:lstStyle/>
        <a:p>
          <a:endParaRPr kumimoji="1" lang="ja-JP" altLang="en-US"/>
        </a:p>
      </dgm:t>
    </dgm:pt>
    <dgm:pt modelId="{7BFDBACE-9DEB-4D40-8476-A396C7EA4A21}">
      <dgm:prSet phldrT="[テキスト]" custT="1"/>
      <dgm:spPr>
        <a:solidFill>
          <a:srgbClr val="7030A0"/>
        </a:solidFill>
      </dgm:spPr>
      <dgm:t>
        <a:bodyPr/>
        <a:lstStyle/>
        <a:p>
          <a:r>
            <a:rPr kumimoji="1" lang="ja-JP" altLang="en-US" sz="2000" dirty="0"/>
            <a:t>アプリ基盤</a:t>
          </a:r>
        </a:p>
      </dgm:t>
    </dgm:pt>
    <dgm:pt modelId="{C06B6DDD-534A-49D2-8418-4A44FB0C9BDF}" type="parTrans" cxnId="{FCD17B9B-62E1-40BA-B2EB-F84E97C588C6}">
      <dgm:prSet/>
      <dgm:spPr/>
      <dgm:t>
        <a:bodyPr/>
        <a:lstStyle/>
        <a:p>
          <a:endParaRPr kumimoji="1" lang="ja-JP" altLang="en-US"/>
        </a:p>
      </dgm:t>
    </dgm:pt>
    <dgm:pt modelId="{EF606EE0-0C0A-47AD-9C0C-07463C6CDF39}" type="sibTrans" cxnId="{FCD17B9B-62E1-40BA-B2EB-F84E97C588C6}">
      <dgm:prSet/>
      <dgm:spPr/>
      <dgm:t>
        <a:bodyPr/>
        <a:lstStyle/>
        <a:p>
          <a:endParaRPr kumimoji="1" lang="ja-JP" altLang="en-US"/>
        </a:p>
      </dgm:t>
    </dgm:pt>
    <dgm:pt modelId="{E8C0A57D-1A20-4C4E-9AB5-B8DF6E5575C3}">
      <dgm:prSet phldrT="[テキスト]" custT="1"/>
      <dgm:spPr>
        <a:solidFill>
          <a:srgbClr val="7030A0"/>
        </a:solidFill>
      </dgm:spPr>
      <dgm:t>
        <a:bodyPr/>
        <a:lstStyle/>
        <a:p>
          <a:r>
            <a:rPr kumimoji="1" lang="ja-JP" altLang="en-US" sz="2000" dirty="0"/>
            <a:t>アプリ基盤</a:t>
          </a:r>
        </a:p>
      </dgm:t>
    </dgm:pt>
    <dgm:pt modelId="{21C3D97B-5E08-4327-8B1F-A216301FF478}" type="parTrans" cxnId="{05422234-0FDA-40DD-8972-44687C6D1463}">
      <dgm:prSet/>
      <dgm:spPr/>
      <dgm:t>
        <a:bodyPr/>
        <a:lstStyle/>
        <a:p>
          <a:endParaRPr kumimoji="1" lang="ja-JP" altLang="en-US"/>
        </a:p>
      </dgm:t>
    </dgm:pt>
    <dgm:pt modelId="{1F3F90DB-74BA-4903-923B-320D2AADE739}" type="sibTrans" cxnId="{05422234-0FDA-40DD-8972-44687C6D1463}">
      <dgm:prSet/>
      <dgm:spPr/>
      <dgm:t>
        <a:bodyPr/>
        <a:lstStyle/>
        <a:p>
          <a:endParaRPr kumimoji="1" lang="ja-JP" altLang="en-US"/>
        </a:p>
      </dgm:t>
    </dgm:pt>
    <dgm:pt modelId="{25A3900C-E486-45FB-A8E8-92F9C950B727}">
      <dgm:prSet phldrT="[テキスト]"/>
      <dgm:spPr>
        <a:gradFill flip="none" rotWithShape="0">
          <a:gsLst>
            <a:gs pos="44000">
              <a:srgbClr val="92D050"/>
            </a:gs>
            <a:gs pos="53000">
              <a:srgbClr val="FFFF00"/>
            </a:gs>
          </a:gsLst>
          <a:lin ang="5400000" scaled="0"/>
          <a:tileRect/>
        </a:gradFill>
      </dgm:spPr>
      <dgm:t>
        <a:bodyPr/>
        <a:lstStyle/>
        <a:p>
          <a:r>
            <a:rPr kumimoji="1" lang="en-US" altLang="ja-JP" dirty="0"/>
            <a:t>TICS</a:t>
          </a:r>
          <a:br>
            <a:rPr kumimoji="1" lang="en-US" altLang="ja-JP" dirty="0"/>
          </a:br>
          <a:r>
            <a:rPr kumimoji="1" lang="en-US" altLang="ja-JP" dirty="0">
              <a:solidFill>
                <a:schemeClr val="tx1"/>
              </a:solidFill>
            </a:rPr>
            <a:t>MARSY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D07F6215-B853-4B7B-8139-C0EBC8BBAD0A}" type="parTrans" cxnId="{7F4F834F-4107-4BE2-905B-35B214AC4AFD}">
      <dgm:prSet/>
      <dgm:spPr/>
      <dgm:t>
        <a:bodyPr/>
        <a:lstStyle/>
        <a:p>
          <a:endParaRPr kumimoji="1" lang="ja-JP" altLang="en-US"/>
        </a:p>
      </dgm:t>
    </dgm:pt>
    <dgm:pt modelId="{F143C666-8AAA-45BF-9832-DC90ECFFC0A0}" type="sibTrans" cxnId="{7F4F834F-4107-4BE2-905B-35B214AC4AFD}">
      <dgm:prSet/>
      <dgm:spPr/>
      <dgm:t>
        <a:bodyPr/>
        <a:lstStyle/>
        <a:p>
          <a:endParaRPr kumimoji="1" lang="ja-JP" altLang="en-US"/>
        </a:p>
      </dgm:t>
    </dgm:pt>
    <dgm:pt modelId="{3887D7E4-CA59-46BB-840D-B4F7D6C27491}" type="pres">
      <dgm:prSet presAssocID="{07364C24-8ECE-403E-9C44-0507B87655F9}" presName="Name0" presStyleCnt="0">
        <dgm:presLayoutVars>
          <dgm:dir/>
          <dgm:animLvl val="lvl"/>
          <dgm:resizeHandles val="exact"/>
        </dgm:presLayoutVars>
      </dgm:prSet>
      <dgm:spPr/>
    </dgm:pt>
    <dgm:pt modelId="{BBE63A58-4A06-4C79-B942-83BBE97305D4}" type="pres">
      <dgm:prSet presAssocID="{0C431F52-A624-45E4-B4C7-02B8F1EC3377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27B706F-E894-4980-A223-CF34D7160F4C}" type="pres">
      <dgm:prSet presAssocID="{C59BD4F6-470B-4DA9-9C73-035C22296260}" presName="parTxOnlySpace" presStyleCnt="0"/>
      <dgm:spPr/>
    </dgm:pt>
    <dgm:pt modelId="{2227A06B-C037-47F1-8A32-FF7C989C3A41}" type="pres">
      <dgm:prSet presAssocID="{7BFDBACE-9DEB-4D40-8476-A396C7EA4A21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AFAD34E-0252-4362-9F13-6D9B3A31B35C}" type="pres">
      <dgm:prSet presAssocID="{EF606EE0-0C0A-47AD-9C0C-07463C6CDF39}" presName="parTxOnlySpace" presStyleCnt="0"/>
      <dgm:spPr/>
    </dgm:pt>
    <dgm:pt modelId="{C4B46B13-4C2B-4D08-A18E-0DAA10BF6AA3}" type="pres">
      <dgm:prSet presAssocID="{E8C0A57D-1A20-4C4E-9AB5-B8DF6E5575C3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CBB4059-47BB-4EE9-BF2E-29A1618C4914}" type="pres">
      <dgm:prSet presAssocID="{1F3F90DB-74BA-4903-923B-320D2AADE739}" presName="parTxOnlySpace" presStyleCnt="0"/>
      <dgm:spPr/>
    </dgm:pt>
    <dgm:pt modelId="{5228E09E-5265-45DD-86A8-A5550E9D1C2B}" type="pres">
      <dgm:prSet presAssocID="{25A3900C-E486-45FB-A8E8-92F9C950B727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6B38806-D4C8-4B5A-ACBB-78F2B156CEE7}" srcId="{07364C24-8ECE-403E-9C44-0507B87655F9}" destId="{0C431F52-A624-45E4-B4C7-02B8F1EC3377}" srcOrd="0" destOrd="0" parTransId="{070FF170-6F90-49C2-B6BB-B8C132F232FE}" sibTransId="{C59BD4F6-470B-4DA9-9C73-035C22296260}"/>
    <dgm:cxn modelId="{75D8D10F-747B-4524-AF2F-F0E022FDC5DC}" type="presOf" srcId="{25A3900C-E486-45FB-A8E8-92F9C950B727}" destId="{5228E09E-5265-45DD-86A8-A5550E9D1C2B}" srcOrd="0" destOrd="0" presId="urn:microsoft.com/office/officeart/2005/8/layout/chevron1"/>
    <dgm:cxn modelId="{05422234-0FDA-40DD-8972-44687C6D1463}" srcId="{07364C24-8ECE-403E-9C44-0507B87655F9}" destId="{E8C0A57D-1A20-4C4E-9AB5-B8DF6E5575C3}" srcOrd="2" destOrd="0" parTransId="{21C3D97B-5E08-4327-8B1F-A216301FF478}" sibTransId="{1F3F90DB-74BA-4903-923B-320D2AADE739}"/>
    <dgm:cxn modelId="{339E6F3F-9AB8-4C57-997E-5EDE131DC5C8}" type="presOf" srcId="{E8C0A57D-1A20-4C4E-9AB5-B8DF6E5575C3}" destId="{C4B46B13-4C2B-4D08-A18E-0DAA10BF6AA3}" srcOrd="0" destOrd="0" presId="urn:microsoft.com/office/officeart/2005/8/layout/chevron1"/>
    <dgm:cxn modelId="{7F4F834F-4107-4BE2-905B-35B214AC4AFD}" srcId="{07364C24-8ECE-403E-9C44-0507B87655F9}" destId="{25A3900C-E486-45FB-A8E8-92F9C950B727}" srcOrd="3" destOrd="0" parTransId="{D07F6215-B853-4B7B-8139-C0EBC8BBAD0A}" sibTransId="{F143C666-8AAA-45BF-9832-DC90ECFFC0A0}"/>
    <dgm:cxn modelId="{E97ED28A-2513-47B0-B57A-8232B5D4234E}" type="presOf" srcId="{07364C24-8ECE-403E-9C44-0507B87655F9}" destId="{3887D7E4-CA59-46BB-840D-B4F7D6C27491}" srcOrd="0" destOrd="0" presId="urn:microsoft.com/office/officeart/2005/8/layout/chevron1"/>
    <dgm:cxn modelId="{FCD17B9B-62E1-40BA-B2EB-F84E97C588C6}" srcId="{07364C24-8ECE-403E-9C44-0507B87655F9}" destId="{7BFDBACE-9DEB-4D40-8476-A396C7EA4A21}" srcOrd="1" destOrd="0" parTransId="{C06B6DDD-534A-49D2-8418-4A44FB0C9BDF}" sibTransId="{EF606EE0-0C0A-47AD-9C0C-07463C6CDF39}"/>
    <dgm:cxn modelId="{8586CAAE-456C-47CC-97D1-4EA6A8048B1B}" type="presOf" srcId="{7BFDBACE-9DEB-4D40-8476-A396C7EA4A21}" destId="{2227A06B-C037-47F1-8A32-FF7C989C3A41}" srcOrd="0" destOrd="0" presId="urn:microsoft.com/office/officeart/2005/8/layout/chevron1"/>
    <dgm:cxn modelId="{0DC8B7BF-4A9D-44DF-95EE-91EB757F6737}" type="presOf" srcId="{0C431F52-A624-45E4-B4C7-02B8F1EC3377}" destId="{BBE63A58-4A06-4C79-B942-83BBE97305D4}" srcOrd="0" destOrd="0" presId="urn:microsoft.com/office/officeart/2005/8/layout/chevron1"/>
    <dgm:cxn modelId="{37C88498-F82E-469E-AB7E-364FDAE3D27A}" type="presParOf" srcId="{3887D7E4-CA59-46BB-840D-B4F7D6C27491}" destId="{BBE63A58-4A06-4C79-B942-83BBE97305D4}" srcOrd="0" destOrd="0" presId="urn:microsoft.com/office/officeart/2005/8/layout/chevron1"/>
    <dgm:cxn modelId="{3B771660-2730-426F-8480-09586BBE395F}" type="presParOf" srcId="{3887D7E4-CA59-46BB-840D-B4F7D6C27491}" destId="{A27B706F-E894-4980-A223-CF34D7160F4C}" srcOrd="1" destOrd="0" presId="urn:microsoft.com/office/officeart/2005/8/layout/chevron1"/>
    <dgm:cxn modelId="{234810C9-361E-4A20-9C0B-2E52D659368C}" type="presParOf" srcId="{3887D7E4-CA59-46BB-840D-B4F7D6C27491}" destId="{2227A06B-C037-47F1-8A32-FF7C989C3A41}" srcOrd="2" destOrd="0" presId="urn:microsoft.com/office/officeart/2005/8/layout/chevron1"/>
    <dgm:cxn modelId="{35ADD987-E840-4BE5-BA08-39EC74F956F8}" type="presParOf" srcId="{3887D7E4-CA59-46BB-840D-B4F7D6C27491}" destId="{AAFAD34E-0252-4362-9F13-6D9B3A31B35C}" srcOrd="3" destOrd="0" presId="urn:microsoft.com/office/officeart/2005/8/layout/chevron1"/>
    <dgm:cxn modelId="{320232D8-E8CD-4324-96FA-A33973885A79}" type="presParOf" srcId="{3887D7E4-CA59-46BB-840D-B4F7D6C27491}" destId="{C4B46B13-4C2B-4D08-A18E-0DAA10BF6AA3}" srcOrd="4" destOrd="0" presId="urn:microsoft.com/office/officeart/2005/8/layout/chevron1"/>
    <dgm:cxn modelId="{7FCA6CC8-ECC0-49A0-958F-00CF5EFF1C4A}" type="presParOf" srcId="{3887D7E4-CA59-46BB-840D-B4F7D6C27491}" destId="{0CBB4059-47BB-4EE9-BF2E-29A1618C4914}" srcOrd="5" destOrd="0" presId="urn:microsoft.com/office/officeart/2005/8/layout/chevron1"/>
    <dgm:cxn modelId="{BF535692-3178-4043-A9CC-89843BE13E7D}" type="presParOf" srcId="{3887D7E4-CA59-46BB-840D-B4F7D6C27491}" destId="{5228E09E-5265-45DD-86A8-A5550E9D1C2B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E63A58-4A06-4C79-B942-83BBE97305D4}">
      <dsp:nvSpPr>
        <dsp:cNvPr id="0" name=""/>
        <dsp:cNvSpPr/>
      </dsp:nvSpPr>
      <dsp:spPr>
        <a:xfrm>
          <a:off x="4086" y="2460534"/>
          <a:ext cx="2378526" cy="951410"/>
        </a:xfrm>
        <a:prstGeom prst="chevron">
          <a:avLst/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 dirty="0"/>
            <a:t>アプリ基盤</a:t>
          </a:r>
        </a:p>
      </dsp:txBody>
      <dsp:txXfrm>
        <a:off x="479791" y="2460534"/>
        <a:ext cx="1427116" cy="951410"/>
      </dsp:txXfrm>
    </dsp:sp>
    <dsp:sp modelId="{2227A06B-C037-47F1-8A32-FF7C989C3A41}">
      <dsp:nvSpPr>
        <dsp:cNvPr id="0" name=""/>
        <dsp:cNvSpPr/>
      </dsp:nvSpPr>
      <dsp:spPr>
        <a:xfrm>
          <a:off x="2144759" y="2460534"/>
          <a:ext cx="2378526" cy="951410"/>
        </a:xfrm>
        <a:prstGeom prst="chevron">
          <a:avLst/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 dirty="0"/>
            <a:t>アプリ基盤</a:t>
          </a:r>
        </a:p>
      </dsp:txBody>
      <dsp:txXfrm>
        <a:off x="2620464" y="2460534"/>
        <a:ext cx="1427116" cy="951410"/>
      </dsp:txXfrm>
    </dsp:sp>
    <dsp:sp modelId="{C4B46B13-4C2B-4D08-A18E-0DAA10BF6AA3}">
      <dsp:nvSpPr>
        <dsp:cNvPr id="0" name=""/>
        <dsp:cNvSpPr/>
      </dsp:nvSpPr>
      <dsp:spPr>
        <a:xfrm>
          <a:off x="4285433" y="2460534"/>
          <a:ext cx="2378526" cy="951410"/>
        </a:xfrm>
        <a:prstGeom prst="chevron">
          <a:avLst/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 dirty="0"/>
            <a:t>アプリ基盤</a:t>
          </a:r>
        </a:p>
      </dsp:txBody>
      <dsp:txXfrm>
        <a:off x="4761138" y="2460534"/>
        <a:ext cx="1427116" cy="951410"/>
      </dsp:txXfrm>
    </dsp:sp>
    <dsp:sp modelId="{5228E09E-5265-45DD-86A8-A5550E9D1C2B}">
      <dsp:nvSpPr>
        <dsp:cNvPr id="0" name=""/>
        <dsp:cNvSpPr/>
      </dsp:nvSpPr>
      <dsp:spPr>
        <a:xfrm>
          <a:off x="6426107" y="2460534"/>
          <a:ext cx="2378526" cy="951410"/>
        </a:xfrm>
        <a:prstGeom prst="chevron">
          <a:avLst/>
        </a:prstGeom>
        <a:gradFill flip="none" rotWithShape="0">
          <a:gsLst>
            <a:gs pos="44000">
              <a:srgbClr val="92D050"/>
            </a:gs>
            <a:gs pos="53000">
              <a:srgbClr val="FFFF00"/>
            </a:gs>
          </a:gsLst>
          <a:lin ang="5400000" scaled="0"/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800" kern="1200" dirty="0"/>
            <a:t>TICS</a:t>
          </a:r>
          <a:br>
            <a:rPr kumimoji="1" lang="en-US" altLang="ja-JP" sz="2800" kern="1200" dirty="0"/>
          </a:br>
          <a:r>
            <a:rPr kumimoji="1" lang="en-US" altLang="ja-JP" sz="2800" kern="1200" dirty="0">
              <a:solidFill>
                <a:schemeClr val="tx1"/>
              </a:solidFill>
            </a:rPr>
            <a:t>MARSY</a:t>
          </a:r>
          <a:endParaRPr kumimoji="1" lang="ja-JP" altLang="en-US" sz="2800" kern="1200" dirty="0">
            <a:solidFill>
              <a:schemeClr val="tx1"/>
            </a:solidFill>
          </a:endParaRPr>
        </a:p>
      </dsp:txBody>
      <dsp:txXfrm>
        <a:off x="6901812" y="2460534"/>
        <a:ext cx="1427116" cy="9514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2FEC6-7010-436E-8DCC-C6AF51D7CFF6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8805ED-1011-4FC3-9906-EE58C8424B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83756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6DC292-C929-5A4B-AFD6-873918720096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61E606-54B1-B342-8E8C-1C5599A4FD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366254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9">
            <a:extLst>
              <a:ext uri="{FF2B5EF4-FFF2-40B4-BE49-F238E27FC236}">
                <a16:creationId xmlns:a16="http://schemas.microsoft.com/office/drawing/2014/main" id="{652A4875-377B-45A8-8BBE-3BF3656238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999" y="900000"/>
            <a:ext cx="11340000" cy="1979314"/>
          </a:xfrm>
        </p:spPr>
        <p:txBody>
          <a:bodyPr lIns="180000" rIns="180000"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kumimoji="1" lang="ja-JP" altLang="en-US" dirty="0"/>
              <a:t>マスター タイトルの書式設定（左揃え </a:t>
            </a:r>
            <a:r>
              <a:rPr kumimoji="1" lang="en-US" altLang="ja-JP" dirty="0"/>
              <a:t>36pt </a:t>
            </a:r>
            <a:r>
              <a:rPr kumimoji="1" lang="ja-JP" altLang="en-US" dirty="0"/>
              <a:t>行間</a:t>
            </a:r>
            <a:r>
              <a:rPr kumimoji="1" lang="en-US" altLang="ja-JP" dirty="0"/>
              <a:t>1.0</a:t>
            </a:r>
            <a:r>
              <a:rPr kumimoji="1" lang="ja-JP" altLang="en-US" dirty="0"/>
              <a:t>）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>
          <a:xfrm>
            <a:off x="522000" y="3060000"/>
            <a:ext cx="3600000" cy="360708"/>
          </a:xfrm>
        </p:spPr>
        <p:txBody>
          <a:bodyPr lIns="180000" rIns="180000"/>
          <a:lstStyle>
            <a:lvl1pPr algn="l">
              <a:defRPr/>
            </a:lvl1pPr>
          </a:lstStyle>
          <a:p>
            <a:r>
              <a:rPr lang="en-US" altLang="ja-JP" dirty="0"/>
              <a:t>2022</a:t>
            </a:r>
            <a:r>
              <a:rPr lang="ja-JP" altLang="en-US" dirty="0"/>
              <a:t>年</a:t>
            </a:r>
            <a:r>
              <a:rPr lang="en-US" dirty="0"/>
              <a:t>xx</a:t>
            </a:r>
            <a:r>
              <a:rPr lang="ja-JP" altLang="en-US" dirty="0"/>
              <a:t>月</a:t>
            </a:r>
            <a:r>
              <a:rPr lang="en-US" dirty="0"/>
              <a:t>xx</a:t>
            </a:r>
            <a:r>
              <a:rPr lang="ja-JP" altLang="en-US" dirty="0"/>
              <a:t>日</a:t>
            </a:r>
          </a:p>
        </p:txBody>
      </p:sp>
      <p:sp>
        <p:nvSpPr>
          <p:cNvPr id="6" name="フッター プレースホルダー 5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8153018" y="6572751"/>
            <a:ext cx="3726982" cy="138499"/>
          </a:xfrm>
        </p:spPr>
        <p:txBody>
          <a:bodyPr/>
          <a:lstStyle/>
          <a:p>
            <a:r>
              <a:rPr lang="en" altLang="ja-JP" dirty="0"/>
              <a:t>Copyright Ⓒ TOYOTA INDUSTRIES IT SOLUTIONS Inc. All Rights Reserved.</a:t>
            </a:r>
            <a:endParaRPr lang="ja-JP" altLang="en-US" dirty="0"/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64373C91-69FA-476D-BEAF-8297343550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8400" y="3521487"/>
            <a:ext cx="9358848" cy="102388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kumimoji="1" lang="ja-JP" altLang="en-US" dirty="0"/>
              <a:t>ユニット名</a:t>
            </a:r>
            <a:br>
              <a:rPr kumimoji="1" lang="en-US" altLang="ja-JP" dirty="0"/>
            </a:br>
            <a:r>
              <a:rPr kumimoji="1" lang="ja-JP" altLang="en-US" dirty="0"/>
              <a:t>部名（左揃え </a:t>
            </a:r>
            <a:r>
              <a:rPr kumimoji="1" lang="en-US" altLang="ja-JP" dirty="0"/>
              <a:t>20pt</a:t>
            </a:r>
            <a:r>
              <a:rPr kumimoji="1" lang="ja-JP" altLang="en-US" dirty="0"/>
              <a:t>　行間</a:t>
            </a:r>
            <a:r>
              <a:rPr kumimoji="1" lang="en-US" altLang="ja-JP" dirty="0"/>
              <a:t>1.0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933232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1FC202-025E-E741-95F1-F81712B515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2000" y="194600"/>
            <a:ext cx="10620000" cy="515613"/>
          </a:xfrm>
        </p:spPr>
        <p:txBody>
          <a:bodyPr wrap="none" anchor="ctr" anchorCtr="0"/>
          <a:lstStyle>
            <a:lvl1pPr algn="l">
              <a:defRPr sz="2800"/>
            </a:lvl1pPr>
          </a:lstStyle>
          <a:p>
            <a:r>
              <a:rPr kumimoji="1" lang="ja-JP" altLang="en-US" dirty="0"/>
              <a:t>目次・概要（左揃え </a:t>
            </a:r>
            <a:r>
              <a:rPr kumimoji="1" lang="en-US" altLang="ja-JP" dirty="0"/>
              <a:t>28pt</a:t>
            </a:r>
            <a:r>
              <a:rPr kumimoji="1" lang="ja-JP" altLang="en-US" dirty="0"/>
              <a:t>）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62409F0D-BF3D-9147-B682-979720A57D8B}"/>
              </a:ext>
            </a:extLst>
          </p:cNvPr>
          <p:cNvCxnSpPr>
            <a:cxnSpLocks/>
          </p:cNvCxnSpPr>
          <p:nvPr userDrawn="1"/>
        </p:nvCxnSpPr>
        <p:spPr>
          <a:xfrm>
            <a:off x="504545" y="774170"/>
            <a:ext cx="10656000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フッター プレースホルダー 11">
            <a:extLst>
              <a:ext uri="{FF2B5EF4-FFF2-40B4-BE49-F238E27FC236}">
                <a16:creationId xmlns:a16="http://schemas.microsoft.com/office/drawing/2014/main" id="{41EC1B0F-061B-4F5B-9810-F1A78FDA87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8153018" y="6572751"/>
            <a:ext cx="3726982" cy="138499"/>
          </a:xfrm>
        </p:spPr>
        <p:txBody>
          <a:bodyPr/>
          <a:lstStyle/>
          <a:p>
            <a:r>
              <a:rPr lang="en" altLang="ja-JP" dirty="0"/>
              <a:t>Copyright Ⓒ TOYOTA INDUSTRIES IT SOLUTIONS Inc. All Rights Reserved.</a:t>
            </a:r>
            <a:endParaRPr lang="ja-JP" altLang="en-US" dirty="0"/>
          </a:p>
        </p:txBody>
      </p:sp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D567A16F-324D-4B98-A580-BF319D0E9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000" y="6588000"/>
            <a:ext cx="180000" cy="1080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lvl1pPr algn="l">
              <a:defRPr lang="ja-JP" altLang="en-US" sz="900" smtClean="0">
                <a:solidFill>
                  <a:schemeClr val="bg2"/>
                </a:solidFill>
                <a:latin typeface="MS PGothic" panose="020B0600070205080204" pitchFamily="34" charset="-128"/>
                <a:ea typeface="MS PGothic" panose="020B0600070205080204" pitchFamily="34" charset="-128"/>
              </a:defRPr>
            </a:lvl1pPr>
          </a:lstStyle>
          <a:p>
            <a:fld id="{74CA1D4E-8149-1A49-BAFB-AF6E1D672644}" type="slidenum">
              <a:rPr lang="en-US" altLang="ja-JP" smtClean="0"/>
              <a:pPr/>
              <a:t>‹#›</a:t>
            </a:fld>
            <a:endParaRPr lang="en-US" altLang="ja-JP" dirty="0"/>
          </a:p>
        </p:txBody>
      </p:sp>
      <p:sp>
        <p:nvSpPr>
          <p:cNvPr id="9" name="テキスト プレースホルダー 4">
            <a:extLst>
              <a:ext uri="{FF2B5EF4-FFF2-40B4-BE49-F238E27FC236}">
                <a16:creationId xmlns:a16="http://schemas.microsoft.com/office/drawing/2014/main" id="{ED1AD288-40EA-4C62-ACC6-5E8FAA90CD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1697" y="1142553"/>
            <a:ext cx="10590396" cy="5077065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kumimoji="1" lang="ja-JP" altLang="en-US" dirty="0"/>
              <a:t>目次・概要（</a:t>
            </a:r>
            <a:r>
              <a:rPr kumimoji="1" lang="en-US" altLang="ja-JP" dirty="0"/>
              <a:t>24pt</a:t>
            </a:r>
            <a:r>
              <a:rPr kumimoji="1" lang="ja-JP" altLang="en-US" dirty="0"/>
              <a:t> 行間</a:t>
            </a:r>
            <a:r>
              <a:rPr kumimoji="1" lang="en-US" altLang="ja-JP" dirty="0"/>
              <a:t>1.5</a:t>
            </a:r>
            <a:r>
              <a:rPr kumimoji="1" lang="ja-JP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305996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0">
          <p15:clr>
            <a:srgbClr val="FBAE40"/>
          </p15:clr>
        </p15:guide>
        <p15:guide id="6" orient="horz" pos="41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1FC202-025E-E741-95F1-F81712B515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2000" y="194600"/>
            <a:ext cx="10620000" cy="515613"/>
          </a:xfrm>
        </p:spPr>
        <p:txBody>
          <a:bodyPr wrap="none" anchor="ctr" anchorCtr="0"/>
          <a:lstStyle>
            <a:lvl1pPr algn="l">
              <a:defRPr sz="2800"/>
            </a:lvl1pPr>
          </a:lstStyle>
          <a:p>
            <a:r>
              <a:rPr kumimoji="1" lang="ja-JP" altLang="en-US" dirty="0"/>
              <a:t>目次タイトル（左揃え </a:t>
            </a:r>
            <a:r>
              <a:rPr kumimoji="1" lang="en-US" altLang="ja-JP" dirty="0"/>
              <a:t>28pt</a:t>
            </a:r>
            <a:r>
              <a:rPr kumimoji="1" lang="ja-JP" altLang="en-US" dirty="0"/>
              <a:t>）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62409F0D-BF3D-9147-B682-979720A57D8B}"/>
              </a:ext>
            </a:extLst>
          </p:cNvPr>
          <p:cNvCxnSpPr>
            <a:cxnSpLocks/>
          </p:cNvCxnSpPr>
          <p:nvPr userDrawn="1"/>
        </p:nvCxnSpPr>
        <p:spPr>
          <a:xfrm>
            <a:off x="504545" y="774170"/>
            <a:ext cx="10656000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フッター プレースホルダー 11">
            <a:extLst>
              <a:ext uri="{FF2B5EF4-FFF2-40B4-BE49-F238E27FC236}">
                <a16:creationId xmlns:a16="http://schemas.microsoft.com/office/drawing/2014/main" id="{41EC1B0F-061B-4F5B-9810-F1A78FDA87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8153018" y="6572751"/>
            <a:ext cx="3726982" cy="138499"/>
          </a:xfrm>
        </p:spPr>
        <p:txBody>
          <a:bodyPr/>
          <a:lstStyle/>
          <a:p>
            <a:r>
              <a:rPr lang="en" altLang="ja-JP" dirty="0"/>
              <a:t>Copyright Ⓒ TOYOTA INDUSTRIES IT SOLUTIONS Inc. All Rights Reserved.</a:t>
            </a:r>
            <a:endParaRPr lang="ja-JP" altLang="en-US" dirty="0"/>
          </a:p>
        </p:txBody>
      </p:sp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D567A16F-324D-4B98-A580-BF319D0E9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000" y="6588000"/>
            <a:ext cx="180000" cy="1080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lvl1pPr algn="l">
              <a:defRPr lang="ja-JP" altLang="en-US" sz="900" smtClean="0">
                <a:solidFill>
                  <a:schemeClr val="bg2"/>
                </a:solidFill>
                <a:latin typeface="MS PGothic" panose="020B0600070205080204" pitchFamily="34" charset="-128"/>
                <a:ea typeface="MS PGothic" panose="020B0600070205080204" pitchFamily="34" charset="-128"/>
              </a:defRPr>
            </a:lvl1pPr>
          </a:lstStyle>
          <a:p>
            <a:fld id="{74CA1D4E-8149-1A49-BAFB-AF6E1D672644}" type="slidenum">
              <a:rPr lang="en-US" altLang="ja-JP" smtClean="0"/>
              <a:pPr/>
              <a:t>‹#›</a:t>
            </a:fld>
            <a:endParaRPr lang="en-US" altLang="ja-JP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5A87507-FBBE-4301-A370-E9950859D1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2000" y="927406"/>
            <a:ext cx="6728610" cy="47449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kumimoji="1" lang="ja-JP" altLang="en-US" dirty="0"/>
              <a:t>ページタイトル（</a:t>
            </a:r>
            <a:r>
              <a:rPr kumimoji="1" lang="en-US" altLang="ja-JP" dirty="0"/>
              <a:t>24pt</a:t>
            </a:r>
            <a:r>
              <a:rPr kumimoji="1" lang="ja-JP" altLang="en-US" dirty="0"/>
              <a:t>）</a:t>
            </a:r>
          </a:p>
        </p:txBody>
      </p:sp>
      <p:sp>
        <p:nvSpPr>
          <p:cNvPr id="9" name="テキスト プレースホルダー 4">
            <a:extLst>
              <a:ext uri="{FF2B5EF4-FFF2-40B4-BE49-F238E27FC236}">
                <a16:creationId xmlns:a16="http://schemas.microsoft.com/office/drawing/2014/main" id="{ED1AD288-40EA-4C62-ACC6-5E8FAA90CD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1697" y="1431726"/>
            <a:ext cx="10590396" cy="507706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kumimoji="1" lang="ja-JP" altLang="en-US" dirty="0"/>
              <a:t>本文テキスト（</a:t>
            </a:r>
            <a:r>
              <a:rPr kumimoji="1" lang="en-US" altLang="ja-JP" dirty="0"/>
              <a:t>24pt</a:t>
            </a:r>
            <a:r>
              <a:rPr kumimoji="1" lang="ja-JP" altLang="en-US" dirty="0"/>
              <a:t> 行間</a:t>
            </a:r>
            <a:r>
              <a:rPr kumimoji="1" lang="en-US" altLang="ja-JP" dirty="0"/>
              <a:t>1.0</a:t>
            </a:r>
            <a:r>
              <a:rPr kumimoji="1" lang="ja-JP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03000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0" userDrawn="1">
          <p15:clr>
            <a:srgbClr val="FBAE40"/>
          </p15:clr>
        </p15:guide>
        <p15:guide id="6" orient="horz" pos="41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(ページタイトルなし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1FC202-025E-E741-95F1-F81712B515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2000" y="194600"/>
            <a:ext cx="10620000" cy="515613"/>
          </a:xfrm>
        </p:spPr>
        <p:txBody>
          <a:bodyPr wrap="none" anchor="ctr" anchorCtr="0"/>
          <a:lstStyle>
            <a:lvl1pPr algn="l">
              <a:defRPr sz="2800"/>
            </a:lvl1pPr>
          </a:lstStyle>
          <a:p>
            <a:r>
              <a:rPr kumimoji="1" lang="ja-JP" altLang="en-US" dirty="0"/>
              <a:t>目次タイトル（左揃え </a:t>
            </a:r>
            <a:r>
              <a:rPr kumimoji="1" lang="en-US" altLang="ja-JP" dirty="0"/>
              <a:t>28pt</a:t>
            </a:r>
            <a:r>
              <a:rPr kumimoji="1" lang="ja-JP" altLang="en-US" dirty="0"/>
              <a:t>）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62409F0D-BF3D-9147-B682-979720A57D8B}"/>
              </a:ext>
            </a:extLst>
          </p:cNvPr>
          <p:cNvCxnSpPr>
            <a:cxnSpLocks/>
          </p:cNvCxnSpPr>
          <p:nvPr userDrawn="1"/>
        </p:nvCxnSpPr>
        <p:spPr>
          <a:xfrm>
            <a:off x="504545" y="774170"/>
            <a:ext cx="10656000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フッター プレースホルダー 11">
            <a:extLst>
              <a:ext uri="{FF2B5EF4-FFF2-40B4-BE49-F238E27FC236}">
                <a16:creationId xmlns:a16="http://schemas.microsoft.com/office/drawing/2014/main" id="{41EC1B0F-061B-4F5B-9810-F1A78FDA87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8153018" y="6572751"/>
            <a:ext cx="3726982" cy="138499"/>
          </a:xfrm>
        </p:spPr>
        <p:txBody>
          <a:bodyPr/>
          <a:lstStyle/>
          <a:p>
            <a:r>
              <a:rPr lang="en" altLang="ja-JP" dirty="0"/>
              <a:t>Copyright Ⓒ TOYOTA INDUSTRIES IT SOLUTIONS Inc. All Rights Reserved.</a:t>
            </a:r>
            <a:endParaRPr lang="ja-JP" altLang="en-US" dirty="0"/>
          </a:p>
        </p:txBody>
      </p:sp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D567A16F-324D-4B98-A580-BF319D0E9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000" y="6588000"/>
            <a:ext cx="180000" cy="1080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lvl1pPr algn="l">
              <a:defRPr lang="ja-JP" altLang="en-US" sz="900" smtClean="0">
                <a:solidFill>
                  <a:schemeClr val="bg2"/>
                </a:solidFill>
                <a:latin typeface="MS PGothic" panose="020B0600070205080204" pitchFamily="34" charset="-128"/>
                <a:ea typeface="MS PGothic" panose="020B0600070205080204" pitchFamily="34" charset="-128"/>
              </a:defRPr>
            </a:lvl1pPr>
          </a:lstStyle>
          <a:p>
            <a:fld id="{74CA1D4E-8149-1A49-BAFB-AF6E1D672644}" type="slidenum">
              <a:rPr lang="en-US" altLang="ja-JP" smtClean="0"/>
              <a:pPr/>
              <a:t>‹#›</a:t>
            </a:fld>
            <a:endParaRPr lang="en-US" altLang="ja-JP" dirty="0"/>
          </a:p>
        </p:txBody>
      </p:sp>
      <p:sp>
        <p:nvSpPr>
          <p:cNvPr id="9" name="テキスト プレースホルダー 4">
            <a:extLst>
              <a:ext uri="{FF2B5EF4-FFF2-40B4-BE49-F238E27FC236}">
                <a16:creationId xmlns:a16="http://schemas.microsoft.com/office/drawing/2014/main" id="{ED1AD288-40EA-4C62-ACC6-5E8FAA90CD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1697" y="1136345"/>
            <a:ext cx="10590396" cy="537244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kumimoji="1" lang="ja-JP" altLang="en-US" dirty="0"/>
              <a:t>本文テキスト（</a:t>
            </a:r>
            <a:r>
              <a:rPr kumimoji="1" lang="en-US" altLang="ja-JP" dirty="0"/>
              <a:t>24pt</a:t>
            </a:r>
            <a:r>
              <a:rPr kumimoji="1" lang="ja-JP" altLang="en-US" dirty="0"/>
              <a:t> 行間</a:t>
            </a:r>
            <a:r>
              <a:rPr kumimoji="1" lang="en-US" altLang="ja-JP" dirty="0"/>
              <a:t>1.0</a:t>
            </a:r>
            <a:r>
              <a:rPr kumimoji="1" lang="ja-JP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305131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0">
          <p15:clr>
            <a:srgbClr val="FBAE40"/>
          </p15:clr>
        </p15:guide>
        <p15:guide id="6" orient="horz" pos="41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8CF483-11F4-B042-8DE5-A2660264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8153018" y="6572751"/>
            <a:ext cx="3726982" cy="138499"/>
          </a:xfrm>
        </p:spPr>
        <p:txBody>
          <a:bodyPr/>
          <a:lstStyle/>
          <a:p>
            <a:r>
              <a:rPr lang="en" altLang="ja-JP" dirty="0"/>
              <a:t>Copyright Ⓒ TOYOTA INDUSTRIES IT SOLUTIONS Inc. All Rights Reserved.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7858AE-1AFB-D94A-83BA-88C906640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000" y="6588000"/>
            <a:ext cx="180000" cy="1080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lvl1pPr algn="l">
              <a:defRPr lang="ja-JP" altLang="en-US" sz="900" smtClean="0">
                <a:solidFill>
                  <a:schemeClr val="bg2"/>
                </a:solidFill>
                <a:latin typeface="MS PGothic" panose="020B0600070205080204" pitchFamily="34" charset="-128"/>
                <a:ea typeface="MS PGothic" panose="020B0600070205080204" pitchFamily="34" charset="-128"/>
              </a:defRPr>
            </a:lvl1pPr>
          </a:lstStyle>
          <a:p>
            <a:fld id="{74CA1D4E-8149-1A49-BAFB-AF6E1D672644}" type="slidenum">
              <a:rPr lang="en-US" altLang="ja-JP" smtClean="0"/>
              <a:pPr/>
              <a:t>‹#›</a:t>
            </a:fld>
            <a:endParaRPr lang="en-US" altLang="ja-JP" dirty="0"/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D32BEA19-0ECF-47D8-8CFE-3FAA090A43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1697" y="1431726"/>
            <a:ext cx="10590396" cy="507706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kumimoji="1" lang="ja-JP" altLang="en-US" dirty="0"/>
              <a:t>本文テキスト（</a:t>
            </a:r>
            <a:r>
              <a:rPr kumimoji="1" lang="en-US" altLang="ja-JP" dirty="0"/>
              <a:t>24pt</a:t>
            </a:r>
            <a:r>
              <a:rPr kumimoji="1" lang="ja-JP" altLang="en-US" dirty="0"/>
              <a:t> 行間</a:t>
            </a:r>
            <a:r>
              <a:rPr kumimoji="1" lang="en-US" altLang="ja-JP" dirty="0"/>
              <a:t>1.0</a:t>
            </a:r>
            <a:r>
              <a:rPr kumimoji="1" lang="ja-JP" altLang="en-US" dirty="0"/>
              <a:t>）</a:t>
            </a:r>
          </a:p>
        </p:txBody>
      </p:sp>
      <p:sp>
        <p:nvSpPr>
          <p:cNvPr id="7" name="テキスト プレースホルダー 4">
            <a:extLst>
              <a:ext uri="{FF2B5EF4-FFF2-40B4-BE49-F238E27FC236}">
                <a16:creationId xmlns:a16="http://schemas.microsoft.com/office/drawing/2014/main" id="{43E9A8FE-28AB-43AF-B4FF-FC48BEA0E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2000" y="927406"/>
            <a:ext cx="5007565" cy="47449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kumimoji="1" lang="ja-JP" altLang="en-US" dirty="0"/>
              <a:t>ページタイトル（</a:t>
            </a:r>
            <a:r>
              <a:rPr kumimoji="1" lang="en-US" altLang="ja-JP" dirty="0"/>
              <a:t>24pt</a:t>
            </a:r>
            <a:r>
              <a:rPr kumimoji="1" lang="ja-JP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854215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664A5494-EBDB-4992-9AEC-FA7BBBCC0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8400" y="3521487"/>
            <a:ext cx="9358847" cy="1023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ユニット名</a:t>
            </a:r>
            <a:br>
              <a:rPr kumimoji="1" lang="en-US" altLang="ja-JP" dirty="0"/>
            </a:br>
            <a:r>
              <a:rPr kumimoji="1" lang="ja-JP" altLang="en-US" dirty="0"/>
              <a:t>部名</a:t>
            </a:r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3D7CE22-C925-374B-A941-02F7CF651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000" y="900000"/>
            <a:ext cx="11340000" cy="1980000"/>
          </a:xfrm>
          <a:prstGeom prst="rect">
            <a:avLst/>
          </a:prstGeom>
        </p:spPr>
        <p:txBody>
          <a:bodyPr vert="horz" lIns="180000" tIns="0" rIns="180000" bIns="0" rtlCol="0" anchor="ctr" anchorCtr="0">
            <a:noAutofit/>
          </a:bodyPr>
          <a:lstStyle/>
          <a:p>
            <a:pPr lvl="0"/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8A7E53-39E3-0247-B084-E4950E9492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2000" y="3059999"/>
            <a:ext cx="3600000" cy="360000"/>
          </a:xfrm>
          <a:prstGeom prst="rect">
            <a:avLst/>
          </a:prstGeom>
        </p:spPr>
        <p:txBody>
          <a:bodyPr vert="horz" lIns="180000" tIns="0" rIns="180000" bIns="0" rtlCol="0" anchor="ctr" anchorCtr="0">
            <a:noAutofit/>
          </a:bodyPr>
          <a:lstStyle>
            <a:lvl1pPr>
              <a:defRPr lang="en-US" altLang="ja-JP" sz="2000" smtClean="0"/>
            </a:lvl1pPr>
          </a:lstStyle>
          <a:p>
            <a:r>
              <a:rPr lang="en-US" altLang="ja-JP" dirty="0"/>
              <a:t>2021</a:t>
            </a:r>
            <a:r>
              <a:rPr lang="ja-JP" altLang="en-US" dirty="0"/>
              <a:t>年</a:t>
            </a:r>
            <a:r>
              <a:rPr lang="en-US" dirty="0"/>
              <a:t>xx</a:t>
            </a:r>
            <a:r>
              <a:rPr lang="ja-JP" altLang="en-US" dirty="0"/>
              <a:t>月</a:t>
            </a:r>
            <a:r>
              <a:rPr lang="en-US" dirty="0"/>
              <a:t>xx</a:t>
            </a:r>
            <a:r>
              <a:rPr lang="ja-JP" altLang="en-US" dirty="0"/>
              <a:t>日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B5AA7E-389A-AB4A-B872-BC504C7185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8153018" y="6572751"/>
            <a:ext cx="3726982" cy="138499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lvl1pPr algn="r">
              <a:defRPr sz="900">
                <a:solidFill>
                  <a:schemeClr val="bg2"/>
                </a:solidFill>
                <a:latin typeface="MS PGothic" panose="020B0600070205080204" pitchFamily="34" charset="-128"/>
                <a:ea typeface="MS PGothic" panose="020B0600070205080204" pitchFamily="34" charset="-128"/>
              </a:defRPr>
            </a:lvl1pPr>
          </a:lstStyle>
          <a:p>
            <a:r>
              <a:rPr lang="en" altLang="ja-JP" dirty="0"/>
              <a:t>Copyright Ⓒ TOYOTA INDUSTRIES IT SOLUTIONS Inc. All Rights Reserved.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274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0" r:id="rId3"/>
    <p:sldLayoutId id="2147483652" r:id="rId4"/>
    <p:sldLayoutId id="2147483651" r:id="rId5"/>
  </p:sldLayoutIdLst>
  <p:hf sldNum="0"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kumimoji="1" lang="ja-JP" altLang="en-US"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25" userDrawn="1">
          <p15:clr>
            <a:srgbClr val="F26B43"/>
          </p15:clr>
        </p15:guide>
        <p15:guide id="2" pos="7469" userDrawn="1">
          <p15:clr>
            <a:srgbClr val="F26B43"/>
          </p15:clr>
        </p15:guide>
        <p15:guide id="3" orient="horz" pos="119" userDrawn="1">
          <p15:clr>
            <a:srgbClr val="F26B43"/>
          </p15:clr>
        </p15:guide>
        <p15:guide id="4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タイトル 11">
            <a:extLst>
              <a:ext uri="{FF2B5EF4-FFF2-40B4-BE49-F238E27FC236}">
                <a16:creationId xmlns:a16="http://schemas.microsoft.com/office/drawing/2014/main" id="{C7606622-D156-4260-A5C2-5F2FBB129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800" b="1" dirty="0"/>
              <a:t>3</a:t>
            </a:r>
            <a:r>
              <a:rPr lang="ja-JP" altLang="en-US" sz="4800" b="1" dirty="0"/>
              <a:t>ヵ月を過ごして</a:t>
            </a:r>
            <a:endParaRPr kumimoji="1" lang="ja-JP" altLang="en-US" sz="4800" b="1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2AFD995-8262-4AFF-8788-03BCCF425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 dirty="0"/>
              <a:t>2025</a:t>
            </a:r>
            <a:r>
              <a:rPr lang="ja-JP" altLang="en-US" dirty="0"/>
              <a:t>年</a:t>
            </a:r>
            <a:r>
              <a:rPr lang="en-US" altLang="ja-JP" dirty="0"/>
              <a:t>12</a:t>
            </a:r>
            <a:r>
              <a:rPr lang="ja-JP" altLang="en-US" dirty="0"/>
              <a:t>月</a:t>
            </a:r>
            <a:r>
              <a:rPr lang="en-US" altLang="ja-JP" dirty="0"/>
              <a:t>11</a:t>
            </a:r>
            <a:r>
              <a:rPr lang="ja-JP" altLang="en-US" dirty="0"/>
              <a:t>日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0310EE1-2D2B-4F16-A94A-03E383732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Copyright Ⓒ TOYOTA INDUSTRIES IT SOLUTIONS Inc. All Rights Reserved.</a:t>
            </a:r>
            <a:endParaRPr lang="ja-JP" altLang="en-US" dirty="0"/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80CB70A8-A459-4EF5-8D94-6896E427BB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/>
              <a:t>アプリケーション開発部 ローコード開発課 ローコード開発</a:t>
            </a:r>
            <a:r>
              <a:rPr kumimoji="1" lang="en-US" altLang="ja-JP" dirty="0"/>
              <a:t>G</a:t>
            </a:r>
            <a:br>
              <a:rPr kumimoji="1" lang="en-US" altLang="ja-JP" dirty="0"/>
            </a:br>
            <a:r>
              <a:rPr kumimoji="1" lang="ja-JP" altLang="en-US" dirty="0"/>
              <a:t>伊東 維</a:t>
            </a:r>
          </a:p>
        </p:txBody>
      </p:sp>
    </p:spTree>
    <p:extLst>
      <p:ext uri="{BB962C8B-B14F-4D97-AF65-F5344CB8AC3E}">
        <p14:creationId xmlns:p14="http://schemas.microsoft.com/office/powerpoint/2010/main" val="1338991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89B9B4-403A-427A-A1C6-6EAD91BB7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50F1D43-6590-4B2B-8785-1716533F3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Copyright Ⓒ TOYOTA INDUSTRIES IT SOLUTIONS Inc. All Rights Reserved.</a:t>
            </a:r>
            <a:endParaRPr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DA5F73D-3CB1-419A-B2A4-7E6A6DE0CB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ja-JP" sz="4000" b="1" dirty="0"/>
              <a:t>1.</a:t>
            </a:r>
            <a:r>
              <a:rPr lang="ja-JP" altLang="en-US" sz="4000" b="1" dirty="0"/>
              <a:t> </a:t>
            </a:r>
            <a:r>
              <a:rPr kumimoji="1" lang="ja-JP" altLang="en-US" sz="4000" b="1" dirty="0"/>
              <a:t>下期目標について</a:t>
            </a:r>
            <a:endParaRPr kumimoji="1" lang="en-US" altLang="ja-JP" sz="4000" b="1" dirty="0"/>
          </a:p>
          <a:p>
            <a:r>
              <a:rPr lang="en-US" altLang="ja-JP" sz="4000" b="1" dirty="0"/>
              <a:t>2.</a:t>
            </a:r>
            <a:r>
              <a:rPr lang="ja-JP" altLang="en-US" sz="4000" b="1" dirty="0"/>
              <a:t> </a:t>
            </a:r>
            <a:r>
              <a:rPr lang="en-US" altLang="ja-JP" sz="4000" b="1" dirty="0"/>
              <a:t>3</a:t>
            </a:r>
            <a:r>
              <a:rPr lang="ja-JP" altLang="en-US" sz="4000" b="1" dirty="0"/>
              <a:t>ヵ月間での成長</a:t>
            </a:r>
            <a:endParaRPr lang="en-US" altLang="ja-JP" sz="4000" b="1" dirty="0"/>
          </a:p>
          <a:p>
            <a:r>
              <a:rPr lang="en-US" altLang="ja-JP" sz="4000" b="1" dirty="0"/>
              <a:t>3.</a:t>
            </a:r>
            <a:r>
              <a:rPr lang="ja-JP" altLang="en-US" sz="4000" b="1" dirty="0"/>
              <a:t> </a:t>
            </a:r>
            <a:r>
              <a:rPr kumimoji="1" lang="en-US" altLang="ja-JP" sz="4000" b="1" dirty="0"/>
              <a:t>4Q</a:t>
            </a:r>
            <a:r>
              <a:rPr kumimoji="1" lang="ja-JP" altLang="en-US" sz="4000" b="1" dirty="0"/>
              <a:t>へ向けて</a:t>
            </a:r>
          </a:p>
        </p:txBody>
      </p:sp>
    </p:spTree>
    <p:extLst>
      <p:ext uri="{BB962C8B-B14F-4D97-AF65-F5344CB8AC3E}">
        <p14:creationId xmlns:p14="http://schemas.microsoft.com/office/powerpoint/2010/main" val="2325639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2329A6EF-C34F-4E02-A46F-D2A23B3E6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2800" b="1" dirty="0"/>
              <a:t>1. </a:t>
            </a:r>
            <a:r>
              <a:rPr kumimoji="1" lang="ja-JP" altLang="en-US" sz="2800" b="1" dirty="0"/>
              <a:t>下期目標</a:t>
            </a:r>
            <a:r>
              <a:rPr lang="ja-JP" altLang="en-US" b="1" dirty="0"/>
              <a:t>について（</a:t>
            </a:r>
            <a:r>
              <a:rPr lang="en-US" altLang="ja-JP" b="1" dirty="0"/>
              <a:t>1/2</a:t>
            </a:r>
            <a:r>
              <a:rPr lang="ja-JP" altLang="en-US" b="1" dirty="0"/>
              <a:t>）</a:t>
            </a:r>
            <a:endParaRPr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2878F1D-A275-41B1-92FD-23DCDF4BE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Copyright Ⓒ TOYOTA INDUSTRIES IT SOLUTIONS Inc. All Rights Reserved.</a:t>
            </a:r>
            <a:endParaRPr lang="ja-JP" altLang="en-US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8CED59E3-888C-4C7A-B6A6-DFD4632D97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1697" y="1706047"/>
            <a:ext cx="10590396" cy="4186754"/>
          </a:xfrm>
        </p:spPr>
        <p:txBody>
          <a:bodyPr/>
          <a:lstStyle/>
          <a:p>
            <a:r>
              <a:rPr lang="ja-JP" altLang="en-US" sz="2800" dirty="0"/>
              <a:t>■最新の情報や流行に敏感で、</a:t>
            </a:r>
            <a:br>
              <a:rPr lang="en-US" altLang="ja-JP" sz="2800" dirty="0"/>
            </a:br>
            <a:r>
              <a:rPr lang="ja-JP" altLang="en-US" sz="2800" dirty="0"/>
              <a:t>　　そこで得た情報を実際に案件に落とし込むことが出来る。</a:t>
            </a:r>
            <a:br>
              <a:rPr lang="en-US" altLang="ja-JP" sz="2800" dirty="0"/>
            </a:br>
            <a:br>
              <a:rPr lang="en-US" altLang="ja-JP" sz="2800" dirty="0"/>
            </a:br>
            <a:r>
              <a:rPr lang="ja-JP" altLang="en-US" sz="2800" dirty="0"/>
              <a:t>■チームに貢献することを目標に、</a:t>
            </a:r>
            <a:br>
              <a:rPr lang="en-US" altLang="ja-JP" sz="2800" dirty="0"/>
            </a:br>
            <a:r>
              <a:rPr lang="ja-JP" altLang="en-US" sz="2800" dirty="0"/>
              <a:t>　　</a:t>
            </a:r>
            <a:r>
              <a:rPr lang="en-US" altLang="ja-JP" sz="2800" dirty="0"/>
              <a:t>OutSystems</a:t>
            </a:r>
            <a:r>
              <a:rPr lang="ja-JP" altLang="en-US" sz="2800" dirty="0"/>
              <a:t>設計においてレビュアーとして任される</a:t>
            </a:r>
            <a:br>
              <a:rPr lang="en-US" altLang="ja-JP" sz="2800" dirty="0"/>
            </a:br>
            <a:r>
              <a:rPr lang="ja-JP" altLang="en-US" sz="2800" dirty="0"/>
              <a:t>　　エンジニアになる。</a:t>
            </a:r>
            <a:br>
              <a:rPr lang="en-US" altLang="ja-JP" sz="2800" dirty="0"/>
            </a:br>
            <a:br>
              <a:rPr lang="en-US" altLang="ja-JP" sz="2800" dirty="0"/>
            </a:br>
            <a:r>
              <a:rPr lang="ja-JP" altLang="en-US" sz="2800" dirty="0"/>
              <a:t>■ </a:t>
            </a:r>
            <a:r>
              <a:rPr lang="en-US" altLang="ja-JP" sz="2800" dirty="0"/>
              <a:t>2</a:t>
            </a:r>
            <a:r>
              <a:rPr lang="ja-JP" altLang="en-US" sz="2800" dirty="0"/>
              <a:t>年後には、まず、</a:t>
            </a:r>
            <a:br>
              <a:rPr lang="en-US" altLang="ja-JP" sz="2800" dirty="0"/>
            </a:br>
            <a:r>
              <a:rPr lang="ja-JP" altLang="en-US" sz="2800" dirty="0"/>
              <a:t>　　</a:t>
            </a:r>
            <a:r>
              <a:rPr lang="en-US" altLang="ja-JP" sz="2800" dirty="0"/>
              <a:t>D</a:t>
            </a:r>
            <a:r>
              <a:rPr lang="ja-JP" altLang="en-US" sz="2800" dirty="0"/>
              <a:t>ランクの</a:t>
            </a:r>
            <a:r>
              <a:rPr lang="en-US" altLang="ja-JP" sz="2800" dirty="0"/>
              <a:t>PJ</a:t>
            </a:r>
            <a:r>
              <a:rPr lang="ja-JP" altLang="en-US" sz="2800" dirty="0"/>
              <a:t>の</a:t>
            </a:r>
            <a:r>
              <a:rPr lang="en-US" altLang="ja-JP" sz="2800" dirty="0"/>
              <a:t>PL</a:t>
            </a:r>
            <a:r>
              <a:rPr lang="ja-JP" altLang="en-US" sz="2800" dirty="0"/>
              <a:t>として案件を任されているような人材になる。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A6B6A2ED-B4F7-2360-CA2C-3E054264CD4B}"/>
              </a:ext>
            </a:extLst>
          </p:cNvPr>
          <p:cNvSpPr/>
          <p:nvPr/>
        </p:nvSpPr>
        <p:spPr>
          <a:xfrm>
            <a:off x="941697" y="1544320"/>
            <a:ext cx="10590396" cy="418675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半年後にはレビュアーになれるだけのスキルを身に着ける</a:t>
            </a:r>
          </a:p>
        </p:txBody>
      </p:sp>
    </p:spTree>
    <p:extLst>
      <p:ext uri="{BB962C8B-B14F-4D97-AF65-F5344CB8AC3E}">
        <p14:creationId xmlns:p14="http://schemas.microsoft.com/office/powerpoint/2010/main" val="4170709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336B468C-BC31-479D-B56B-AEB57C68A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2800" b="1" dirty="0"/>
              <a:t>1. </a:t>
            </a:r>
            <a:r>
              <a:rPr kumimoji="1" lang="ja-JP" altLang="en-US" sz="2800" b="1" dirty="0"/>
              <a:t>下期目標について（</a:t>
            </a:r>
            <a:r>
              <a:rPr lang="en-US" altLang="ja-JP" b="1" dirty="0"/>
              <a:t>2</a:t>
            </a:r>
            <a:r>
              <a:rPr kumimoji="1" lang="en-US" altLang="ja-JP" sz="2800" b="1" dirty="0"/>
              <a:t>/2</a:t>
            </a:r>
            <a:r>
              <a:rPr kumimoji="1" lang="ja-JP" altLang="en-US" sz="2800" b="1" dirty="0"/>
              <a:t>）</a:t>
            </a:r>
            <a:endParaRPr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A2144FB-7FBB-4530-A2CA-AADEDA91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Copyright Ⓒ TOYOTA INDUSTRIES IT SOLUTIONS Inc. All Rights Reserved.</a:t>
            </a:r>
            <a:endParaRPr lang="ja-JP" altLang="en-US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F0E0150F-F90B-4E48-9229-228ADA99C0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3200" b="1" dirty="0"/>
              <a:t>案件での開発　</a:t>
            </a:r>
            <a:br>
              <a:rPr lang="en-US" altLang="ja-JP" sz="3200" b="1" dirty="0"/>
            </a:br>
            <a:r>
              <a:rPr lang="ja-JP" altLang="en-US" sz="3200" b="1" dirty="0"/>
              <a:t>→　レビュー数の総指摘数を大幅に減らすこと</a:t>
            </a:r>
            <a:endParaRPr lang="en-US" altLang="ja-JP" sz="3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ja-JP" sz="3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3200" b="1" dirty="0"/>
              <a:t>スキル習得　</a:t>
            </a:r>
            <a:br>
              <a:rPr lang="en-US" altLang="ja-JP" sz="3200" b="1" dirty="0"/>
            </a:br>
            <a:r>
              <a:rPr lang="ja-JP" altLang="en-US" sz="3200" b="1" dirty="0"/>
              <a:t>→　</a:t>
            </a:r>
            <a:r>
              <a:rPr lang="en-US" altLang="ja-JP" sz="3200" b="1" dirty="0"/>
              <a:t>OutSystems</a:t>
            </a:r>
            <a:r>
              <a:rPr lang="ja-JP" altLang="en-US" sz="3200" b="1" dirty="0"/>
              <a:t>が推奨している資格の取得を行う</a:t>
            </a:r>
            <a:endParaRPr lang="en-US" altLang="ja-JP" sz="3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ja-JP" sz="3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3200" b="1" dirty="0"/>
              <a:t>業務全体でのコミュニケーション　</a:t>
            </a:r>
            <a:br>
              <a:rPr lang="en-US" altLang="ja-JP" sz="3200" b="1" dirty="0"/>
            </a:br>
            <a:r>
              <a:rPr lang="ja-JP" altLang="en-US" sz="3200" b="1" dirty="0"/>
              <a:t>→　問題が起きたときにすぐに行動する</a:t>
            </a:r>
            <a:endParaRPr lang="en-US" altLang="ja-JP" sz="3200" b="1" dirty="0"/>
          </a:p>
        </p:txBody>
      </p:sp>
    </p:spTree>
    <p:extLst>
      <p:ext uri="{BB962C8B-B14F-4D97-AF65-F5344CB8AC3E}">
        <p14:creationId xmlns:p14="http://schemas.microsoft.com/office/powerpoint/2010/main" val="1964413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336B468C-BC31-479D-B56B-AEB57C68A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 b="1" dirty="0"/>
              <a:t>2.</a:t>
            </a:r>
            <a:r>
              <a:rPr lang="ja-JP" altLang="en-US" sz="2800" b="1" dirty="0"/>
              <a:t> </a:t>
            </a:r>
            <a:r>
              <a:rPr lang="en-US" altLang="ja-JP" sz="2800" b="1" dirty="0"/>
              <a:t>3</a:t>
            </a:r>
            <a:r>
              <a:rPr lang="ja-JP" altLang="en-US" sz="2800" b="1" dirty="0"/>
              <a:t>ヵ月間での成長（</a:t>
            </a:r>
            <a:r>
              <a:rPr lang="en-US" altLang="ja-JP" sz="2800" b="1" dirty="0"/>
              <a:t>1/3</a:t>
            </a:r>
            <a:r>
              <a:rPr lang="ja-JP" altLang="en-US" sz="2800" b="1" dirty="0"/>
              <a:t>）</a:t>
            </a:r>
            <a:endParaRPr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A2144FB-7FBB-4530-A2CA-AADEDA91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Copyright Ⓒ TOYOTA INDUSTRIES IT SOLUTIONS Inc. All Rights Reserved.</a:t>
            </a:r>
            <a:endParaRPr lang="ja-JP" altLang="en-US" dirty="0"/>
          </a:p>
        </p:txBody>
      </p:sp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30C0DABB-C32F-C12D-3368-9271081170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4084129"/>
              </p:ext>
            </p:extLst>
          </p:nvPr>
        </p:nvGraphicFramePr>
        <p:xfrm>
          <a:off x="1691640" y="-187960"/>
          <a:ext cx="8808720" cy="5872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6EC8241-F326-2252-17AB-9085E9890A7B}"/>
              </a:ext>
            </a:extLst>
          </p:cNvPr>
          <p:cNvSpPr txBox="1"/>
          <p:nvPr/>
        </p:nvSpPr>
        <p:spPr>
          <a:xfrm>
            <a:off x="711200" y="894080"/>
            <a:ext cx="203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dirty="0"/>
              <a:t>案件業務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06443BB-1A5F-1B5E-D62E-042A0B974508}"/>
              </a:ext>
            </a:extLst>
          </p:cNvPr>
          <p:cNvSpPr txBox="1"/>
          <p:nvPr/>
        </p:nvSpPr>
        <p:spPr>
          <a:xfrm>
            <a:off x="1772222" y="1585665"/>
            <a:ext cx="203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b="1" dirty="0"/>
              <a:t>9</a:t>
            </a:r>
            <a:r>
              <a:rPr kumimoji="1" lang="ja-JP" altLang="en-US" sz="3200" b="1" dirty="0"/>
              <a:t>月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B638615-F35B-79B9-02AC-DB233B02F243}"/>
              </a:ext>
            </a:extLst>
          </p:cNvPr>
          <p:cNvSpPr txBox="1"/>
          <p:nvPr/>
        </p:nvSpPr>
        <p:spPr>
          <a:xfrm>
            <a:off x="756222" y="5171868"/>
            <a:ext cx="203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/>
              <a:t>10</a:t>
            </a:r>
            <a:r>
              <a:rPr lang="ja-JP" altLang="en-US" sz="3200" b="1" dirty="0"/>
              <a:t>月</a:t>
            </a:r>
            <a:endParaRPr kumimoji="1" lang="ja-JP" altLang="en-US" sz="3200" b="1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5ED8667-4DBE-EBCC-97BF-D894E2FC64AF}"/>
              </a:ext>
            </a:extLst>
          </p:cNvPr>
          <p:cNvSpPr txBox="1"/>
          <p:nvPr/>
        </p:nvSpPr>
        <p:spPr>
          <a:xfrm>
            <a:off x="5964080" y="1595120"/>
            <a:ext cx="203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/>
              <a:t>11</a:t>
            </a:r>
            <a:r>
              <a:rPr lang="ja-JP" altLang="en-US" sz="3200" b="1" dirty="0"/>
              <a:t>月</a:t>
            </a:r>
            <a:endParaRPr kumimoji="1" lang="ja-JP" altLang="en-US" sz="3200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2544C02-5D21-ACA6-5D1B-BFBB2EA83DA0}"/>
              </a:ext>
            </a:extLst>
          </p:cNvPr>
          <p:cNvSpPr txBox="1"/>
          <p:nvPr/>
        </p:nvSpPr>
        <p:spPr>
          <a:xfrm>
            <a:off x="8123938" y="1585666"/>
            <a:ext cx="203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/>
              <a:t>12</a:t>
            </a:r>
            <a:r>
              <a:rPr lang="ja-JP" altLang="en-US" sz="3200" b="1" dirty="0"/>
              <a:t>月</a:t>
            </a:r>
            <a:endParaRPr kumimoji="1" lang="ja-JP" altLang="en-US" sz="3200" b="1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A1D6833-3C68-4895-5207-9E4FFDCD0E4C}"/>
              </a:ext>
            </a:extLst>
          </p:cNvPr>
          <p:cNvSpPr txBox="1"/>
          <p:nvPr/>
        </p:nvSpPr>
        <p:spPr>
          <a:xfrm>
            <a:off x="1287940" y="5704821"/>
            <a:ext cx="4191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100" dirty="0"/>
              <a:t>・カスタマーポー</a:t>
            </a:r>
            <a:r>
              <a:rPr lang="ja-JP" altLang="en-US" sz="1100" dirty="0"/>
              <a:t>タル問い合わせ資料作成</a:t>
            </a:r>
            <a:br>
              <a:rPr lang="en-US" altLang="ja-JP" sz="1100" dirty="0"/>
            </a:br>
            <a:r>
              <a:rPr lang="ja-JP" altLang="en-US" sz="1100" dirty="0"/>
              <a:t>・</a:t>
            </a:r>
            <a:r>
              <a:rPr lang="en-US" altLang="ja-JP" sz="1100" dirty="0" err="1"/>
              <a:t>CloudConnector</a:t>
            </a:r>
            <a:r>
              <a:rPr lang="ja-JP" altLang="en-US" sz="1100" dirty="0"/>
              <a:t>バージョンアップ影響ツール作成</a:t>
            </a:r>
            <a:br>
              <a:rPr lang="en-US" altLang="ja-JP" sz="1100" dirty="0"/>
            </a:br>
            <a:r>
              <a:rPr lang="ja-JP" altLang="en-US" sz="1100" dirty="0"/>
              <a:t>・不要な</a:t>
            </a:r>
            <a:r>
              <a:rPr lang="en-US" altLang="ja-JP" sz="1100" dirty="0"/>
              <a:t>HANDSON</a:t>
            </a:r>
            <a:r>
              <a:rPr lang="ja-JP" altLang="en-US" sz="1100" dirty="0"/>
              <a:t>アプリの棚卸</a:t>
            </a:r>
            <a:br>
              <a:rPr lang="en-US" altLang="ja-JP" sz="1100" dirty="0"/>
            </a:br>
            <a:r>
              <a:rPr lang="ja-JP" altLang="en-US" sz="1100" dirty="0"/>
              <a:t>・他</a:t>
            </a:r>
            <a:r>
              <a:rPr lang="en-US" altLang="ja-JP" sz="1100" dirty="0"/>
              <a:t>App</a:t>
            </a:r>
            <a:r>
              <a:rPr lang="ja-JP" altLang="en-US" sz="1100" dirty="0"/>
              <a:t>のロール変更が即時反映されない件</a:t>
            </a:r>
            <a:endParaRPr kumimoji="1" lang="ja-JP" altLang="en-US" sz="11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31E6BCD-25CD-756B-5C27-08182B08730F}"/>
              </a:ext>
            </a:extLst>
          </p:cNvPr>
          <p:cNvSpPr txBox="1"/>
          <p:nvPr/>
        </p:nvSpPr>
        <p:spPr>
          <a:xfrm>
            <a:off x="727142" y="3716276"/>
            <a:ext cx="203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b="1" dirty="0"/>
              <a:t>9</a:t>
            </a:r>
            <a:r>
              <a:rPr kumimoji="1" lang="ja-JP" altLang="en-US" sz="3200" b="1" dirty="0"/>
              <a:t>月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F5CB04E-3A62-BDC8-DEBD-BBEE175B52B0}"/>
              </a:ext>
            </a:extLst>
          </p:cNvPr>
          <p:cNvSpPr txBox="1"/>
          <p:nvPr/>
        </p:nvSpPr>
        <p:spPr>
          <a:xfrm>
            <a:off x="1258860" y="4282878"/>
            <a:ext cx="4191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100" dirty="0"/>
              <a:t>・</a:t>
            </a:r>
            <a:r>
              <a:rPr kumimoji="1" lang="en-US" altLang="ja-JP" sz="1100" dirty="0"/>
              <a:t>Okta</a:t>
            </a:r>
            <a:r>
              <a:rPr kumimoji="1" lang="ja-JP" altLang="en-US" sz="1100" dirty="0"/>
              <a:t>からのリダイレクト先として指定する</a:t>
            </a:r>
            <a:r>
              <a:rPr kumimoji="1" lang="en-US" altLang="ja-JP" sz="1100" dirty="0"/>
              <a:t>URL</a:t>
            </a:r>
            <a:r>
              <a:rPr kumimoji="1" lang="ja-JP" altLang="en-US" sz="1100" dirty="0"/>
              <a:t>は絶対パスにする</a:t>
            </a:r>
            <a:br>
              <a:rPr lang="en-US" altLang="ja-JP" sz="1100" dirty="0"/>
            </a:br>
            <a:r>
              <a:rPr lang="ja-JP" altLang="en-US" sz="1100" dirty="0"/>
              <a:t>・</a:t>
            </a:r>
            <a:r>
              <a:rPr lang="en-US" altLang="ja-JP" sz="1100" dirty="0" err="1"/>
              <a:t>CloudConnector</a:t>
            </a:r>
            <a:r>
              <a:rPr lang="ja-JP" altLang="en-US" sz="1100" dirty="0"/>
              <a:t>バージョンアップ影響ツール作成</a:t>
            </a:r>
            <a:br>
              <a:rPr lang="en-US" altLang="ja-JP" sz="1100" dirty="0"/>
            </a:br>
            <a:r>
              <a:rPr lang="ja-JP" altLang="en-US" sz="1100" dirty="0"/>
              <a:t>・バッチ実行時間変更</a:t>
            </a:r>
            <a:endParaRPr kumimoji="1" lang="ja-JP" altLang="en-US" sz="11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9C8D736-5110-150C-BAA4-AC5BF28D327E}"/>
              </a:ext>
            </a:extLst>
          </p:cNvPr>
          <p:cNvSpPr txBox="1"/>
          <p:nvPr/>
        </p:nvSpPr>
        <p:spPr>
          <a:xfrm>
            <a:off x="3804222" y="1585664"/>
            <a:ext cx="203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/>
              <a:t>10</a:t>
            </a:r>
            <a:r>
              <a:rPr lang="ja-JP" altLang="en-US" sz="3200" b="1" dirty="0"/>
              <a:t>月</a:t>
            </a:r>
            <a:endParaRPr kumimoji="1" lang="ja-JP" altLang="en-US" sz="3200" b="1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C54DDA3-CD0A-F468-25CE-12BBF8A111E0}"/>
              </a:ext>
            </a:extLst>
          </p:cNvPr>
          <p:cNvSpPr txBox="1"/>
          <p:nvPr/>
        </p:nvSpPr>
        <p:spPr>
          <a:xfrm>
            <a:off x="6091938" y="3698103"/>
            <a:ext cx="203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/>
              <a:t>11</a:t>
            </a:r>
            <a:r>
              <a:rPr lang="ja-JP" altLang="en-US" sz="3200" b="1" dirty="0"/>
              <a:t>月</a:t>
            </a:r>
            <a:endParaRPr kumimoji="1" lang="ja-JP" altLang="en-US" sz="3200" b="1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C65F976-91DB-978E-46F1-E1B93AF1B321}"/>
              </a:ext>
            </a:extLst>
          </p:cNvPr>
          <p:cNvSpPr txBox="1"/>
          <p:nvPr/>
        </p:nvSpPr>
        <p:spPr>
          <a:xfrm>
            <a:off x="6619500" y="4282878"/>
            <a:ext cx="44041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100" dirty="0"/>
              <a:t>・バッチ処理時でのパスワードチェックの調査</a:t>
            </a:r>
            <a:br>
              <a:rPr lang="en-US" altLang="ja-JP" sz="1100" dirty="0"/>
            </a:br>
            <a:r>
              <a:rPr lang="ja-JP" altLang="en-US" sz="1100" dirty="0"/>
              <a:t>・</a:t>
            </a:r>
            <a:r>
              <a:rPr lang="en-US" altLang="ja-JP" sz="1100" dirty="0" err="1"/>
              <a:t>HideLoaderSafely</a:t>
            </a:r>
            <a:r>
              <a:rPr lang="ja-JP" altLang="en-US" sz="1100" dirty="0"/>
              <a:t>アクションの利用箇所でエラーログが出力される</a:t>
            </a:r>
            <a:br>
              <a:rPr lang="en-US" altLang="ja-JP" sz="1100" dirty="0"/>
            </a:br>
            <a:r>
              <a:rPr lang="ja-JP" altLang="en-US" sz="1100" dirty="0"/>
              <a:t>・他のアプリでログオフした後にログオフを行うとエラーになる</a:t>
            </a:r>
            <a:endParaRPr lang="en-US" altLang="ja-JP" sz="1100" dirty="0"/>
          </a:p>
          <a:p>
            <a:pPr algn="l"/>
            <a:r>
              <a:rPr lang="ja-JP" altLang="en-US" sz="1100" dirty="0"/>
              <a:t>・ヘッダのシステム名をクリックした際の遷移先画面について</a:t>
            </a:r>
            <a:endParaRPr lang="en-US" altLang="ja-JP" sz="1100" dirty="0"/>
          </a:p>
          <a:p>
            <a:pPr algn="l"/>
            <a:r>
              <a:rPr lang="ja-JP" altLang="en-US" sz="1100" dirty="0"/>
              <a:t>・</a:t>
            </a:r>
            <a:r>
              <a:rPr lang="en-US" altLang="ja-JP" sz="1100" dirty="0"/>
              <a:t>Copyright</a:t>
            </a:r>
            <a:r>
              <a:rPr lang="ja-JP" altLang="en-US" sz="1100" dirty="0"/>
              <a:t>の修正</a:t>
            </a:r>
            <a:br>
              <a:rPr lang="en-US" altLang="ja-JP" sz="1100" dirty="0"/>
            </a:br>
            <a:r>
              <a:rPr lang="ja-JP" altLang="en-US" sz="1100" dirty="0"/>
              <a:t>・</a:t>
            </a:r>
            <a:r>
              <a:rPr lang="en-US" altLang="ja-JP" sz="1100" dirty="0"/>
              <a:t>DB</a:t>
            </a:r>
            <a:r>
              <a:rPr lang="ja-JP" altLang="en-US" sz="1100" dirty="0"/>
              <a:t>ツールのロールの名称や配置の変更</a:t>
            </a:r>
            <a:endParaRPr kumimoji="1" lang="ja-JP" altLang="en-US" sz="11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B3307F0-7D8D-85DD-7532-8D3A2036E6EC}"/>
              </a:ext>
            </a:extLst>
          </p:cNvPr>
          <p:cNvSpPr txBox="1"/>
          <p:nvPr/>
        </p:nvSpPr>
        <p:spPr>
          <a:xfrm>
            <a:off x="6121018" y="5361355"/>
            <a:ext cx="203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/>
              <a:t>12</a:t>
            </a:r>
            <a:r>
              <a:rPr lang="ja-JP" altLang="en-US" sz="3200" b="1" dirty="0"/>
              <a:t>月</a:t>
            </a:r>
            <a:endParaRPr kumimoji="1" lang="ja-JP" altLang="en-US" sz="3200" b="1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C72E784-ADDA-A668-F56A-D5D1E05F50E1}"/>
              </a:ext>
            </a:extLst>
          </p:cNvPr>
          <p:cNvSpPr txBox="1"/>
          <p:nvPr/>
        </p:nvSpPr>
        <p:spPr>
          <a:xfrm>
            <a:off x="6619500" y="5878267"/>
            <a:ext cx="4191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100" dirty="0"/>
              <a:t>・権限パターンマスタ画面作成（</a:t>
            </a:r>
            <a:r>
              <a:rPr kumimoji="1" lang="en-US" altLang="ja-JP" sz="1100" dirty="0"/>
              <a:t>TICS</a:t>
            </a:r>
            <a:r>
              <a:rPr kumimoji="1" lang="ja-JP" altLang="en-US" sz="1100" dirty="0"/>
              <a:t>）</a:t>
            </a:r>
            <a:br>
              <a:rPr lang="en-US" altLang="ja-JP" sz="1100" dirty="0"/>
            </a:br>
            <a:r>
              <a:rPr lang="ja-JP" altLang="en-US" sz="1100" dirty="0"/>
              <a:t>・バッチの配置場所の修正</a:t>
            </a:r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128520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336B468C-BC31-479D-B56B-AEB57C68A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 b="1" dirty="0"/>
              <a:t>2.</a:t>
            </a:r>
            <a:r>
              <a:rPr lang="ja-JP" altLang="en-US" sz="2800" b="1" dirty="0"/>
              <a:t> </a:t>
            </a:r>
            <a:r>
              <a:rPr lang="en-US" altLang="ja-JP" sz="2800" b="1" dirty="0"/>
              <a:t>3</a:t>
            </a:r>
            <a:r>
              <a:rPr lang="ja-JP" altLang="en-US" sz="2800" b="1" dirty="0"/>
              <a:t>ヵ月間での成長（</a:t>
            </a:r>
            <a:r>
              <a:rPr lang="en-US" altLang="ja-JP" b="1" dirty="0"/>
              <a:t>2</a:t>
            </a:r>
            <a:r>
              <a:rPr lang="en-US" altLang="ja-JP" sz="2800" b="1" dirty="0"/>
              <a:t>/3</a:t>
            </a:r>
            <a:r>
              <a:rPr lang="ja-JP" altLang="en-US" sz="2800" b="1" dirty="0"/>
              <a:t>）</a:t>
            </a:r>
            <a:endParaRPr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A2144FB-7FBB-4530-A2CA-AADEDA91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Copyright Ⓒ TOYOTA INDUSTRIES IT SOLUTIONS Inc. All Rights Reserved.</a:t>
            </a:r>
            <a:endParaRPr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7DDA38F-F9B8-6BD0-6F87-BBC64B134B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 dirty="0"/>
              <a:t>アプリ基盤</a:t>
            </a:r>
            <a:br>
              <a:rPr lang="en-US" altLang="ja-JP" dirty="0"/>
            </a:br>
            <a:r>
              <a:rPr lang="ja-JP" altLang="en-US" dirty="0"/>
              <a:t>・</a:t>
            </a:r>
            <a:r>
              <a:rPr lang="en-US" altLang="ja-JP" dirty="0"/>
              <a:t>OutSystems</a:t>
            </a:r>
            <a:r>
              <a:rPr lang="ja-JP" altLang="en-US" dirty="0"/>
              <a:t>のロジックの書き方からアクション、</a:t>
            </a:r>
            <a:br>
              <a:rPr lang="en-US" altLang="ja-JP" dirty="0"/>
            </a:br>
            <a:r>
              <a:rPr lang="ja-JP" altLang="en-US" dirty="0"/>
              <a:t>　</a:t>
            </a:r>
            <a:r>
              <a:rPr lang="en-US" altLang="ja-JP" dirty="0"/>
              <a:t>TIIS</a:t>
            </a:r>
            <a:r>
              <a:rPr lang="ja-JP" altLang="en-US" dirty="0"/>
              <a:t>の共通部品など基礎から応用まで身に着けることができた</a:t>
            </a:r>
            <a:br>
              <a:rPr lang="en-US" altLang="ja-JP" dirty="0"/>
            </a:br>
            <a:br>
              <a:rPr lang="en-US" altLang="ja-JP" dirty="0"/>
            </a:br>
            <a:r>
              <a:rPr lang="ja-JP" altLang="en-US" dirty="0"/>
              <a:t>・社外の方（</a:t>
            </a:r>
            <a:r>
              <a:rPr lang="en-US" altLang="ja-JP" dirty="0"/>
              <a:t>CTC</a:t>
            </a:r>
            <a:r>
              <a:rPr lang="ja-JP" altLang="en-US" dirty="0"/>
              <a:t>、</a:t>
            </a:r>
            <a:r>
              <a:rPr lang="en-US" altLang="ja-JP" dirty="0"/>
              <a:t>TS</a:t>
            </a:r>
            <a:r>
              <a:rPr lang="ja-JP" altLang="en-US" dirty="0"/>
              <a:t>、</a:t>
            </a:r>
            <a:r>
              <a:rPr lang="en-US" altLang="ja-JP" dirty="0"/>
              <a:t>Out</a:t>
            </a:r>
            <a:r>
              <a:rPr lang="ja-JP" altLang="en-US" dirty="0"/>
              <a:t>社）の方とやり取り、連絡することが多くあり、</a:t>
            </a:r>
            <a:br>
              <a:rPr lang="en-US" altLang="ja-JP" dirty="0"/>
            </a:br>
            <a:r>
              <a:rPr lang="ja-JP" altLang="en-US" dirty="0"/>
              <a:t>　最新の情報や不具合の原因など突き止めることが出来た</a:t>
            </a:r>
            <a:br>
              <a:rPr lang="en-US" altLang="ja-JP" dirty="0"/>
            </a:br>
            <a:br>
              <a:rPr lang="en-US" altLang="ja-JP" dirty="0"/>
            </a:br>
            <a:r>
              <a:rPr lang="en-US" altLang="ja-JP" dirty="0"/>
              <a:t>TICS</a:t>
            </a:r>
            <a:br>
              <a:rPr lang="en-US" altLang="ja-JP" dirty="0"/>
            </a:br>
            <a:r>
              <a:rPr lang="ja-JP" altLang="en-US" dirty="0"/>
              <a:t>・</a:t>
            </a:r>
            <a:r>
              <a:rPr lang="en-US" altLang="ja-JP" dirty="0"/>
              <a:t>0</a:t>
            </a:r>
            <a:r>
              <a:rPr lang="ja-JP" altLang="en-US" dirty="0"/>
              <a:t>から</a:t>
            </a:r>
            <a:r>
              <a:rPr lang="en-US" altLang="ja-JP" dirty="0"/>
              <a:t>1</a:t>
            </a:r>
            <a:r>
              <a:rPr lang="ja-JP" altLang="en-US" dirty="0"/>
              <a:t>つのものを作る大変さや、</a:t>
            </a:r>
            <a:br>
              <a:rPr lang="en-US" altLang="ja-JP" dirty="0"/>
            </a:br>
            <a:r>
              <a:rPr lang="ja-JP" altLang="en-US" dirty="0"/>
              <a:t>　決められた時間内で高い品質のものを作成する術を学んだ</a:t>
            </a:r>
            <a:br>
              <a:rPr lang="en-US" altLang="ja-JP" dirty="0"/>
            </a:br>
            <a:br>
              <a:rPr lang="en-US" altLang="ja-JP" dirty="0"/>
            </a:br>
            <a:r>
              <a:rPr lang="en-US" altLang="ja-JP" dirty="0"/>
              <a:t>MARSY</a:t>
            </a:r>
            <a:br>
              <a:rPr lang="en-US" altLang="ja-JP" dirty="0"/>
            </a:br>
            <a:r>
              <a:rPr lang="ja-JP" altLang="en-US" dirty="0"/>
              <a:t>・</a:t>
            </a:r>
            <a:r>
              <a:rPr lang="en-US" altLang="ja-JP" dirty="0"/>
              <a:t>OutSystems</a:t>
            </a:r>
            <a:r>
              <a:rPr lang="ja-JP" altLang="en-US" dirty="0"/>
              <a:t>以外の内容（</a:t>
            </a:r>
            <a:r>
              <a:rPr lang="en-US" altLang="ja-JP" dirty="0"/>
              <a:t>JP1</a:t>
            </a:r>
            <a:r>
              <a:rPr lang="ja-JP" altLang="en-US" dirty="0"/>
              <a:t>）を扱い、他案件業務と両立する術を学んだ</a:t>
            </a:r>
          </a:p>
        </p:txBody>
      </p:sp>
    </p:spTree>
    <p:extLst>
      <p:ext uri="{BB962C8B-B14F-4D97-AF65-F5344CB8AC3E}">
        <p14:creationId xmlns:p14="http://schemas.microsoft.com/office/powerpoint/2010/main" val="118727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336B468C-BC31-479D-B56B-AEB57C68A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 b="1" dirty="0"/>
              <a:t>2.</a:t>
            </a:r>
            <a:r>
              <a:rPr lang="ja-JP" altLang="en-US" sz="2800" b="1" dirty="0"/>
              <a:t> </a:t>
            </a:r>
            <a:r>
              <a:rPr lang="en-US" altLang="ja-JP" sz="2800" b="1" dirty="0"/>
              <a:t>3</a:t>
            </a:r>
            <a:r>
              <a:rPr lang="ja-JP" altLang="en-US" sz="2800" b="1" dirty="0"/>
              <a:t>ヵ月間での成長（</a:t>
            </a:r>
            <a:r>
              <a:rPr lang="en-US" altLang="ja-JP" sz="2800" b="1" dirty="0"/>
              <a:t>3/3</a:t>
            </a:r>
            <a:r>
              <a:rPr lang="ja-JP" altLang="en-US" sz="2800" b="1" dirty="0"/>
              <a:t>）</a:t>
            </a:r>
            <a:endParaRPr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A2144FB-7FBB-4530-A2CA-AADEDA91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Copyright Ⓒ TOYOTA INDUSTRIES IT SOLUTIONS Inc. All Rights Reserved.</a:t>
            </a:r>
            <a:endParaRPr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7DDA38F-F9B8-6BD0-6F87-BBC64B134B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1697" y="1478855"/>
            <a:ext cx="10590396" cy="4068505"/>
          </a:xfrm>
        </p:spPr>
        <p:txBody>
          <a:bodyPr/>
          <a:lstStyle/>
          <a:p>
            <a:r>
              <a:rPr lang="ja-JP" altLang="en-US" dirty="0"/>
              <a:t>・資料作成のスピードが大幅に上昇した</a:t>
            </a:r>
            <a:endParaRPr lang="en-US" altLang="ja-JP" dirty="0"/>
          </a:p>
          <a:p>
            <a:r>
              <a:rPr lang="ja-JP" altLang="en-US" dirty="0"/>
              <a:t>　以前：</a:t>
            </a:r>
            <a:r>
              <a:rPr lang="en-US" altLang="ja-JP" dirty="0"/>
              <a:t>1</a:t>
            </a:r>
            <a:r>
              <a:rPr lang="ja-JP" altLang="en-US" dirty="0"/>
              <a:t>資料に</a:t>
            </a:r>
            <a:r>
              <a:rPr lang="en-US" altLang="ja-JP" dirty="0"/>
              <a:t>1</a:t>
            </a:r>
            <a:r>
              <a:rPr lang="ja-JP" altLang="en-US" dirty="0"/>
              <a:t>～</a:t>
            </a:r>
            <a:r>
              <a:rPr lang="en-US" altLang="ja-JP" dirty="0"/>
              <a:t>2</a:t>
            </a:r>
            <a:r>
              <a:rPr lang="ja-JP" altLang="en-US" dirty="0"/>
              <a:t>ｈ</a:t>
            </a:r>
            <a:endParaRPr lang="en-US" altLang="ja-JP" dirty="0"/>
          </a:p>
          <a:p>
            <a:r>
              <a:rPr lang="ja-JP" altLang="en-US" dirty="0"/>
              <a:t>　現在：</a:t>
            </a:r>
            <a:r>
              <a:rPr lang="en-US" altLang="ja-JP" dirty="0"/>
              <a:t>1</a:t>
            </a:r>
            <a:r>
              <a:rPr lang="ja-JP" altLang="en-US" dirty="0"/>
              <a:t>資料に対し、</a:t>
            </a:r>
            <a:r>
              <a:rPr lang="en-US" altLang="ja-JP" dirty="0"/>
              <a:t>0.5</a:t>
            </a:r>
            <a:r>
              <a:rPr lang="ja-JP" altLang="en-US" dirty="0"/>
              <a:t>～</a:t>
            </a:r>
            <a:r>
              <a:rPr lang="en-US" altLang="ja-JP" dirty="0"/>
              <a:t>1h</a:t>
            </a:r>
            <a:br>
              <a:rPr lang="en-US" altLang="ja-JP" dirty="0"/>
            </a:br>
            <a:br>
              <a:rPr lang="en-US" altLang="ja-JP" dirty="0"/>
            </a:br>
            <a:r>
              <a:rPr lang="ja-JP" altLang="en-US" dirty="0"/>
              <a:t>・チャットでの文面</a:t>
            </a:r>
            <a:endParaRPr lang="en-US" altLang="ja-JP" dirty="0"/>
          </a:p>
          <a:p>
            <a:r>
              <a:rPr lang="ja-JP" altLang="en-US" dirty="0"/>
              <a:t>　以前：</a:t>
            </a:r>
            <a:r>
              <a:rPr lang="en-US" altLang="ja-JP" dirty="0"/>
              <a:t>1</a:t>
            </a:r>
            <a:r>
              <a:rPr lang="ja-JP" altLang="en-US" dirty="0"/>
              <a:t>展開内容に</a:t>
            </a:r>
            <a:r>
              <a:rPr lang="en-US" altLang="ja-JP" dirty="0"/>
              <a:t>1h</a:t>
            </a:r>
            <a:r>
              <a:rPr lang="ja-JP" altLang="en-US" dirty="0"/>
              <a:t>（相談込み）</a:t>
            </a:r>
            <a:br>
              <a:rPr lang="en-US" altLang="ja-JP" dirty="0"/>
            </a:br>
            <a:r>
              <a:rPr lang="ja-JP" altLang="en-US" dirty="0"/>
              <a:t>　現在：</a:t>
            </a:r>
            <a:r>
              <a:rPr lang="en-US" altLang="ja-JP" dirty="0"/>
              <a:t>1</a:t>
            </a:r>
            <a:r>
              <a:rPr lang="ja-JP" altLang="en-US" dirty="0"/>
              <a:t>展開内容に</a:t>
            </a:r>
            <a:r>
              <a:rPr lang="en-US" altLang="ja-JP" dirty="0"/>
              <a:t>0.25h</a:t>
            </a:r>
            <a:r>
              <a:rPr lang="ja-JP" altLang="en-US" dirty="0"/>
              <a:t>（相談なし）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・沢山の方との会話、分からない部分に対しご教授をいただいた</a:t>
            </a:r>
            <a:endParaRPr lang="en-US" altLang="ja-JP" dirty="0"/>
          </a:p>
          <a:p>
            <a:endParaRPr lang="en-US" altLang="ja-JP" dirty="0"/>
          </a:p>
          <a:p>
            <a:endParaRPr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F9D6FF0-1BB6-8996-B7D8-A5D7F687469F}"/>
              </a:ext>
            </a:extLst>
          </p:cNvPr>
          <p:cNvSpPr txBox="1"/>
          <p:nvPr/>
        </p:nvSpPr>
        <p:spPr>
          <a:xfrm>
            <a:off x="426720" y="894080"/>
            <a:ext cx="3332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dirty="0"/>
              <a:t>人間的な部分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3076383-AD56-86CA-C1D9-9BF8A6016627}"/>
              </a:ext>
            </a:extLst>
          </p:cNvPr>
          <p:cNvSpPr txBox="1"/>
          <p:nvPr/>
        </p:nvSpPr>
        <p:spPr>
          <a:xfrm>
            <a:off x="1165217" y="5547360"/>
            <a:ext cx="7552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2000" dirty="0"/>
              <a:t>LC</a:t>
            </a:r>
            <a:r>
              <a:rPr kumimoji="1" lang="ja-JP" altLang="en-US" sz="2000" dirty="0"/>
              <a:t>課内の方で会話していない方は、ほぼいないと思います！</a:t>
            </a:r>
          </a:p>
        </p:txBody>
      </p:sp>
    </p:spTree>
    <p:extLst>
      <p:ext uri="{BB962C8B-B14F-4D97-AF65-F5344CB8AC3E}">
        <p14:creationId xmlns:p14="http://schemas.microsoft.com/office/powerpoint/2010/main" val="1302559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2329A6EF-C34F-4E02-A46F-D2A23B3E6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 b="1" dirty="0"/>
              <a:t>3.</a:t>
            </a:r>
            <a:r>
              <a:rPr lang="ja-JP" altLang="en-US" sz="2800" b="1" dirty="0"/>
              <a:t> </a:t>
            </a:r>
            <a:r>
              <a:rPr kumimoji="1" lang="en-US" altLang="ja-JP" sz="2800" b="1" dirty="0"/>
              <a:t>4Q</a:t>
            </a:r>
            <a:r>
              <a:rPr kumimoji="1" lang="ja-JP" altLang="en-US" sz="2800" b="1" dirty="0"/>
              <a:t>へ向けて （</a:t>
            </a:r>
            <a:r>
              <a:rPr kumimoji="1" lang="en-US" altLang="ja-JP" sz="2800" b="1" dirty="0"/>
              <a:t>1/2</a:t>
            </a:r>
            <a:r>
              <a:rPr kumimoji="1" lang="ja-JP" altLang="en-US" sz="2800" b="1" dirty="0"/>
              <a:t>）</a:t>
            </a:r>
            <a:endParaRPr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2878F1D-A275-41B1-92FD-23DCDF4BE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Copyright Ⓒ TOYOTA INDUSTRIES IT SOLUTIONS Inc. All Rights Reserved.</a:t>
            </a:r>
            <a:endParaRPr lang="ja-JP" altLang="en-US" dirty="0"/>
          </a:p>
        </p:txBody>
      </p:sp>
      <p:sp>
        <p:nvSpPr>
          <p:cNvPr id="9" name="テキスト プレースホルダー 6">
            <a:extLst>
              <a:ext uri="{FF2B5EF4-FFF2-40B4-BE49-F238E27FC236}">
                <a16:creationId xmlns:a16="http://schemas.microsoft.com/office/drawing/2014/main" id="{CDBB3DC6-E615-5121-2AC6-133DDACED70E}"/>
              </a:ext>
            </a:extLst>
          </p:cNvPr>
          <p:cNvSpPr txBox="1">
            <a:spLocks/>
          </p:cNvSpPr>
          <p:nvPr/>
        </p:nvSpPr>
        <p:spPr>
          <a:xfrm>
            <a:off x="1056147" y="1606555"/>
            <a:ext cx="10590396" cy="53724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3200" b="1" dirty="0"/>
              <a:t>案件での開発　</a:t>
            </a:r>
            <a:br>
              <a:rPr lang="en-US" altLang="ja-JP" sz="3200" b="1" dirty="0"/>
            </a:br>
            <a:r>
              <a:rPr lang="ja-JP" altLang="en-US" sz="3200" b="1" dirty="0"/>
              <a:t>→　レビュー数の総指摘数を大幅に減らすこと</a:t>
            </a:r>
            <a:endParaRPr lang="en-US" altLang="ja-JP" sz="3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ja-JP" sz="3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3200" b="1" dirty="0"/>
              <a:t>スキル習得　</a:t>
            </a:r>
            <a:br>
              <a:rPr lang="en-US" altLang="ja-JP" sz="3200" b="1" dirty="0"/>
            </a:br>
            <a:r>
              <a:rPr lang="ja-JP" altLang="en-US" sz="3200" b="1" dirty="0"/>
              <a:t>→　</a:t>
            </a:r>
            <a:r>
              <a:rPr lang="en-US" altLang="ja-JP" sz="3200" b="1" dirty="0"/>
              <a:t>OutSystems</a:t>
            </a:r>
            <a:r>
              <a:rPr lang="ja-JP" altLang="en-US" sz="3200" b="1" dirty="0"/>
              <a:t>が推奨している資格の取得を行う</a:t>
            </a:r>
            <a:endParaRPr lang="en-US" altLang="ja-JP" sz="3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ja-JP" sz="3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3200" b="1" dirty="0"/>
              <a:t>業務全体でのコミュニケーション　</a:t>
            </a:r>
            <a:br>
              <a:rPr lang="en-US" altLang="ja-JP" sz="3200" b="1" dirty="0"/>
            </a:br>
            <a:r>
              <a:rPr lang="ja-JP" altLang="en-US" sz="3200" b="1" dirty="0"/>
              <a:t>→　問題が起きたときにすぐに行動する</a:t>
            </a:r>
            <a:endParaRPr lang="en-US" altLang="ja-JP" sz="3200" b="1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004FE5B8-C1FE-174E-CFE1-C2ECFCA8A162}"/>
              </a:ext>
            </a:extLst>
          </p:cNvPr>
          <p:cNvSpPr/>
          <p:nvPr/>
        </p:nvSpPr>
        <p:spPr>
          <a:xfrm>
            <a:off x="1371760" y="1563886"/>
            <a:ext cx="9204960" cy="14732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chemeClr val="tx1"/>
                </a:solidFill>
              </a:rPr>
              <a:t>TICS</a:t>
            </a:r>
            <a:r>
              <a:rPr kumimoji="1" lang="ja-JP" altLang="en-US" sz="4000" dirty="0">
                <a:solidFill>
                  <a:schemeClr val="tx1"/>
                </a:solidFill>
              </a:rPr>
              <a:t>でのレビュー指摘数を</a:t>
            </a:r>
            <a:br>
              <a:rPr kumimoji="1" lang="en-US" altLang="ja-JP" sz="4000" dirty="0">
                <a:solidFill>
                  <a:schemeClr val="tx1"/>
                </a:solidFill>
              </a:rPr>
            </a:br>
            <a:r>
              <a:rPr kumimoji="1" lang="en-US" altLang="ja-JP" sz="4000" dirty="0">
                <a:solidFill>
                  <a:schemeClr val="tx1"/>
                </a:solidFill>
              </a:rPr>
              <a:t>30</a:t>
            </a:r>
            <a:r>
              <a:rPr kumimoji="1" lang="ja-JP" altLang="en-US" sz="4000" dirty="0">
                <a:solidFill>
                  <a:schemeClr val="tx1"/>
                </a:solidFill>
              </a:rPr>
              <a:t>件以内に収めます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27182A1-84A7-BD22-5A67-F5C14A620134}"/>
              </a:ext>
            </a:extLst>
          </p:cNvPr>
          <p:cNvSpPr/>
          <p:nvPr/>
        </p:nvSpPr>
        <p:spPr>
          <a:xfrm>
            <a:off x="1371760" y="3271897"/>
            <a:ext cx="9204960" cy="14732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chemeClr val="tx1"/>
                </a:solidFill>
              </a:rPr>
              <a:t>Associate Developer (ODC)</a:t>
            </a:r>
            <a:r>
              <a:rPr kumimoji="1" lang="ja-JP" altLang="en-US" sz="4000" dirty="0">
                <a:solidFill>
                  <a:schemeClr val="tx1"/>
                </a:solidFill>
              </a:rPr>
              <a:t>資格取得</a:t>
            </a:r>
            <a:br>
              <a:rPr kumimoji="1" lang="en-US" altLang="ja-JP" sz="4000" dirty="0">
                <a:solidFill>
                  <a:schemeClr val="tx1"/>
                </a:solidFill>
              </a:rPr>
            </a:br>
            <a:r>
              <a:rPr kumimoji="1" lang="en-US" altLang="ja-JP" sz="4000" dirty="0">
                <a:solidFill>
                  <a:schemeClr val="tx1"/>
                </a:solidFill>
              </a:rPr>
              <a:t>Web Developer Specialist (ODC)</a:t>
            </a:r>
            <a:r>
              <a:rPr kumimoji="1" lang="ja-JP" altLang="en-US" sz="4000" dirty="0">
                <a:solidFill>
                  <a:schemeClr val="tx1"/>
                </a:solidFill>
              </a:rPr>
              <a:t>受験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3EAB6C0E-ACE8-AD20-FD7C-A676FFA63EDD}"/>
              </a:ext>
            </a:extLst>
          </p:cNvPr>
          <p:cNvSpPr/>
          <p:nvPr/>
        </p:nvSpPr>
        <p:spPr>
          <a:xfrm>
            <a:off x="1371760" y="4978794"/>
            <a:ext cx="9204960" cy="14732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000" dirty="0">
                <a:solidFill>
                  <a:schemeClr val="tx1"/>
                </a:solidFill>
              </a:rPr>
              <a:t>引き続き報連相、徹底します</a:t>
            </a:r>
          </a:p>
        </p:txBody>
      </p:sp>
      <p:sp>
        <p:nvSpPr>
          <p:cNvPr id="2" name="テキスト プレースホルダー 3">
            <a:extLst>
              <a:ext uri="{FF2B5EF4-FFF2-40B4-BE49-F238E27FC236}">
                <a16:creationId xmlns:a16="http://schemas.microsoft.com/office/drawing/2014/main" id="{34B78858-6F3B-934C-FF20-2E6D01498D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2000" y="927406"/>
            <a:ext cx="6728610" cy="474490"/>
          </a:xfrm>
        </p:spPr>
        <p:txBody>
          <a:bodyPr/>
          <a:lstStyle/>
          <a:p>
            <a:r>
              <a:rPr kumimoji="1" lang="ja-JP" altLang="en-US" dirty="0"/>
              <a:t>目標管理</a:t>
            </a:r>
          </a:p>
        </p:txBody>
      </p:sp>
    </p:spTree>
    <p:extLst>
      <p:ext uri="{BB962C8B-B14F-4D97-AF65-F5344CB8AC3E}">
        <p14:creationId xmlns:p14="http://schemas.microsoft.com/office/powerpoint/2010/main" val="177872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8369E9-80AA-7883-E410-AF9896583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 b="1" dirty="0"/>
              <a:t>3.</a:t>
            </a:r>
            <a:r>
              <a:rPr lang="ja-JP" altLang="en-US" sz="2800" b="1" dirty="0"/>
              <a:t> </a:t>
            </a:r>
            <a:r>
              <a:rPr kumimoji="1" lang="en-US" altLang="ja-JP" sz="2800" b="1" dirty="0"/>
              <a:t>4Q</a:t>
            </a:r>
            <a:r>
              <a:rPr kumimoji="1" lang="ja-JP" altLang="en-US" sz="2800" b="1" dirty="0"/>
              <a:t>へ向けて （</a:t>
            </a:r>
            <a:r>
              <a:rPr kumimoji="1" lang="en-US" altLang="ja-JP" sz="2800" b="1" dirty="0"/>
              <a:t>2/2</a:t>
            </a:r>
            <a:r>
              <a:rPr kumimoji="1" lang="ja-JP" altLang="en-US" sz="2800" b="1" dirty="0"/>
              <a:t>）</a:t>
            </a:r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14162E0-59EB-CCEF-FDD4-C77075FC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Copyright Ⓒ TOYOTA INDUSTRIES IT SOLUTIONS Inc. All Rights Reserved.</a:t>
            </a:r>
            <a:endParaRPr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CC84155-23AA-9CAB-11C3-378F0612E6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/>
              <a:t>育成計画シート（年度末に目指す姿）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F5DE443-7843-8C4D-990A-C0B80465DC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 dirty="0"/>
              <a:t> </a:t>
            </a:r>
            <a:br>
              <a:rPr kumimoji="1" lang="en-US" altLang="ja-JP" dirty="0"/>
            </a:br>
            <a:r>
              <a:rPr kumimoji="1" lang="en-US" altLang="ja-JP" sz="2800" dirty="0"/>
              <a:t>Ⅰ </a:t>
            </a:r>
            <a:r>
              <a:rPr kumimoji="1" lang="ja-JP" altLang="en-US" sz="2800" dirty="0"/>
              <a:t>．円滑なコミュニケーション力（部内外（ベンダ含む）問わず）</a:t>
            </a:r>
            <a:br>
              <a:rPr lang="en-US" altLang="ja-JP" sz="2800" dirty="0"/>
            </a:br>
            <a:endParaRPr lang="en-US" altLang="ja-JP" sz="2800" dirty="0"/>
          </a:p>
          <a:p>
            <a:r>
              <a:rPr lang="en-US" altLang="ja-JP" sz="2800" dirty="0"/>
              <a:t>Ⅱ</a:t>
            </a:r>
            <a:r>
              <a:rPr lang="ja-JP" altLang="en-US" sz="2800" dirty="0"/>
              <a:t>．指示の理解と遂行</a:t>
            </a:r>
            <a:br>
              <a:rPr lang="en-US" altLang="ja-JP" sz="2800" dirty="0"/>
            </a:br>
            <a:endParaRPr lang="en-US" altLang="ja-JP" sz="2800" dirty="0"/>
          </a:p>
          <a:p>
            <a:r>
              <a:rPr lang="en-US" altLang="ja-JP" sz="2800" dirty="0"/>
              <a:t>Ⅲ</a:t>
            </a:r>
            <a:r>
              <a:rPr lang="ja-JP" altLang="en-US" sz="2800" dirty="0"/>
              <a:t>．</a:t>
            </a:r>
            <a:r>
              <a:rPr lang="en-US" altLang="ja-JP" sz="2800" dirty="0"/>
              <a:t>OutSystems</a:t>
            </a:r>
            <a:r>
              <a:rPr lang="ja-JP" altLang="en-US" sz="2800" dirty="0"/>
              <a:t>での基礎知識、技術を身に着ける</a:t>
            </a:r>
            <a:endParaRPr lang="en-US" altLang="ja-JP" sz="2800" dirty="0"/>
          </a:p>
          <a:p>
            <a:br>
              <a:rPr lang="en-US" altLang="ja-JP" sz="2800" dirty="0"/>
            </a:br>
            <a:r>
              <a:rPr lang="en-US" altLang="ja-JP" sz="2800" dirty="0"/>
              <a:t>Ⅳ</a:t>
            </a:r>
            <a:r>
              <a:rPr lang="ja-JP" altLang="en-US" sz="2800" dirty="0"/>
              <a:t>．担当する業務を通して、計画力を身に着ける</a:t>
            </a:r>
            <a:endParaRPr kumimoji="1" lang="ja-JP" altLang="en-US" sz="2800" dirty="0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052DE0BA-DDF5-1B10-EF5F-15C4BAB868D8}"/>
              </a:ext>
            </a:extLst>
          </p:cNvPr>
          <p:cNvSpPr/>
          <p:nvPr/>
        </p:nvSpPr>
        <p:spPr>
          <a:xfrm>
            <a:off x="941697" y="1798486"/>
            <a:ext cx="10438754" cy="649846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</a:rPr>
              <a:t>新人の中で、一番やり取りしている自信があります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4C9DF770-0FF3-29D2-7B5F-F53183990FCA}"/>
              </a:ext>
            </a:extLst>
          </p:cNvPr>
          <p:cNvSpPr/>
          <p:nvPr/>
        </p:nvSpPr>
        <p:spPr>
          <a:xfrm>
            <a:off x="951857" y="2728748"/>
            <a:ext cx="10438754" cy="649846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</a:rPr>
              <a:t>引き続き、即レスポンスを意識し遂行します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94C846F3-25D6-B7AA-5908-CE7165D8BE68}"/>
              </a:ext>
            </a:extLst>
          </p:cNvPr>
          <p:cNvSpPr/>
          <p:nvPr/>
        </p:nvSpPr>
        <p:spPr>
          <a:xfrm>
            <a:off x="1017518" y="3745354"/>
            <a:ext cx="10438754" cy="64984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solidFill>
                  <a:schemeClr val="tx1"/>
                </a:solidFill>
              </a:rPr>
              <a:t>資格の取得を行います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44901A21-5258-CAC6-A810-B6CD0BC9A297}"/>
              </a:ext>
            </a:extLst>
          </p:cNvPr>
          <p:cNvSpPr/>
          <p:nvPr/>
        </p:nvSpPr>
        <p:spPr>
          <a:xfrm>
            <a:off x="951857" y="4675616"/>
            <a:ext cx="10438754" cy="64984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solidFill>
                  <a:schemeClr val="tx1"/>
                </a:solidFill>
              </a:rPr>
              <a:t>期限内に終わらなかった場合の挽回策を練り実行します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281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Office テーマ">
  <a:themeElements>
    <a:clrScheme name="TIIS">
      <a:dk1>
        <a:srgbClr val="000000"/>
      </a:dk1>
      <a:lt1>
        <a:srgbClr val="FFFFFF"/>
      </a:lt1>
      <a:dk2>
        <a:srgbClr val="5F5F5F"/>
      </a:dk2>
      <a:lt2>
        <a:srgbClr val="919191"/>
      </a:lt2>
      <a:accent1>
        <a:srgbClr val="919191"/>
      </a:accent1>
      <a:accent2>
        <a:srgbClr val="515151"/>
      </a:accent2>
      <a:accent3>
        <a:srgbClr val="CACACA"/>
      </a:accent3>
      <a:accent4>
        <a:srgbClr val="FA0000"/>
      </a:accent4>
      <a:accent5>
        <a:srgbClr val="000000"/>
      </a:accent5>
      <a:accent6>
        <a:srgbClr val="FFFFFF"/>
      </a:accent6>
      <a:hlink>
        <a:srgbClr val="0432FF"/>
      </a:hlink>
      <a:folHlink>
        <a:srgbClr val="60606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kumimoji="1"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日本語版 16x9 TIISテンプレート" id="{6CFA733C-EAD6-43F0-A42E-A9F18D5EEBA9}" vid="{7E4DEE3C-1D03-4437-B6C3-1762DA90DB9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ef0a3ad-89ee-4555-85fa-0a04b13b45a1" xsi:nil="true"/>
    <lcf76f155ced4ddcb4097134ff3c332f xmlns="2a102930-d030-4ff6-bcd9-03cb66e6290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2FD7F0503600CE4EB9C99E5485DDD212" ma:contentTypeVersion="17" ma:contentTypeDescription="新しいドキュメントを作成します。" ma:contentTypeScope="" ma:versionID="b15c113864a7c03eacd246aa8b9a2707">
  <xsd:schema xmlns:xsd="http://www.w3.org/2001/XMLSchema" xmlns:xs="http://www.w3.org/2001/XMLSchema" xmlns:p="http://schemas.microsoft.com/office/2006/metadata/properties" xmlns:ns2="2a102930-d030-4ff6-bcd9-03cb66e62902" xmlns:ns3="def0a3ad-89ee-4555-85fa-0a04b13b45a1" targetNamespace="http://schemas.microsoft.com/office/2006/metadata/properties" ma:root="true" ma:fieldsID="a8305000ea9e43a604affdb8f886c095" ns2:_="" ns3:_="">
    <xsd:import namespace="2a102930-d030-4ff6-bcd9-03cb66e62902"/>
    <xsd:import namespace="def0a3ad-89ee-4555-85fa-0a04b13b45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102930-d030-4ff6-bcd9-03cb66e629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画像タグ" ma:readOnly="false" ma:fieldId="{5cf76f15-5ced-4ddc-b409-7134ff3c332f}" ma:taxonomyMulti="true" ma:sspId="7419793c-9719-4e5d-a0f1-ae86be1a9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f0a3ad-89ee-4555-85fa-0a04b13b45a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2bc5a5f5-ee9a-435d-a102-0aa80cd92b37}" ma:internalName="TaxCatchAll" ma:showField="CatchAllData" ma:web="def0a3ad-89ee-4555-85fa-0a04b13b45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9521AC2-B3C4-4039-BAB1-33FE3686901A}">
  <ds:schemaRefs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c527a667-25de-43ee-bbdb-22d40eebea7f"/>
    <ds:schemaRef ds:uri="http://schemas.microsoft.com/office/infopath/2007/PartnerControls"/>
    <ds:schemaRef ds:uri="e0fb7acb-206d-4985-a1e5-2ffe6bf6a558"/>
    <ds:schemaRef ds:uri="http://purl.org/dc/dcmitype/"/>
    <ds:schemaRef ds:uri="def0a3ad-89ee-4555-85fa-0a04b13b45a1"/>
    <ds:schemaRef ds:uri="2a102930-d030-4ff6-bcd9-03cb66e62902"/>
  </ds:schemaRefs>
</ds:datastoreItem>
</file>

<file path=customXml/itemProps2.xml><?xml version="1.0" encoding="utf-8"?>
<ds:datastoreItem xmlns:ds="http://schemas.openxmlformats.org/officeDocument/2006/customXml" ds:itemID="{F6F1C25E-F74E-4A2D-8E3D-504088248EB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6AEC05-F3EA-4BF7-A75F-EE299B9013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102930-d030-4ff6-bcd9-03cb66e62902"/>
    <ds:schemaRef ds:uri="def0a3ad-89ee-4555-85fa-0a04b13b45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日本語版 16x9 TIISテンプレート</Template>
  <TotalTime>88</TotalTime>
  <Words>920</Words>
  <Application>Microsoft Office PowerPoint</Application>
  <PresentationFormat>ワイド画面</PresentationFormat>
  <Paragraphs>76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MS PGothic</vt:lpstr>
      <vt:lpstr>游ゴシック</vt:lpstr>
      <vt:lpstr>Arial</vt:lpstr>
      <vt:lpstr>Office テーマ</vt:lpstr>
      <vt:lpstr>3ヵ月を過ごして</vt:lpstr>
      <vt:lpstr>目次</vt:lpstr>
      <vt:lpstr>1. 下期目標について（1/2）</vt:lpstr>
      <vt:lpstr>1. 下期目標について（2/2）</vt:lpstr>
      <vt:lpstr>2. 3ヵ月間での成長（1/3）</vt:lpstr>
      <vt:lpstr>2. 3ヵ月間での成長（2/3）</vt:lpstr>
      <vt:lpstr>2. 3ヵ月間での成長（3/3）</vt:lpstr>
      <vt:lpstr>3. 4Qへ向けて （1/2）</vt:lpstr>
      <vt:lpstr>3. 4Qへ向けて （2/2）</vt:lpstr>
    </vt:vector>
  </TitlesOfParts>
  <Company>TOYOTA Industries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伊東 維</dc:creator>
  <cp:lastModifiedBy>伊東 維</cp:lastModifiedBy>
  <cp:revision>3</cp:revision>
  <cp:lastPrinted>2019-07-08T09:02:47Z</cp:lastPrinted>
  <dcterms:created xsi:type="dcterms:W3CDTF">2025-12-11T07:25:41Z</dcterms:created>
  <dcterms:modified xsi:type="dcterms:W3CDTF">2025-12-15T05:24:37Z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0x0101002FD7F0503600CE4EB9C99E5485DDD212</vt:lpwstr>
  </property>
</Properties>
</file>